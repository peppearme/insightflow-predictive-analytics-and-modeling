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Mona Sans Semi Bold"/>
      <p:regular r:id="rId17"/>
    </p:embeddedFont>
    <p:embeddedFont>
      <p:font typeface="Mona Sans Semi Bold"/>
      <p:regular r:id="rId18"/>
    </p:embeddedFont>
    <p:embeddedFont>
      <p:font typeface="Mona Sans Semi Bold"/>
      <p:regular r:id="rId19"/>
    </p:embeddedFont>
    <p:embeddedFont>
      <p:font typeface="Mona Sans Semi Bold"/>
      <p:regular r:id="rId20"/>
    </p:embeddedFont>
    <p:embeddedFont>
      <p:font typeface="Funnel Sans"/>
      <p:regular r:id="rId21"/>
    </p:embeddedFont>
    <p:embeddedFont>
      <p:font typeface="Funnel Sans"/>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81616">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0.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1.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35040" cy="8229600"/>
          </a:xfrm>
          <a:prstGeom prst="rect">
            <a:avLst/>
          </a:prstGeom>
        </p:spPr>
      </p:pic>
      <p:sp>
        <p:nvSpPr>
          <p:cNvPr id="3" name="Text 0"/>
          <p:cNvSpPr/>
          <p:nvPr/>
        </p:nvSpPr>
        <p:spPr>
          <a:xfrm>
            <a:off x="6280190" y="2710815"/>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DDDDDD"/>
                </a:solidFill>
                <a:latin typeface="Mona Sans Semi Bold" pitchFamily="34" charset="0"/>
                <a:ea typeface="Mona Sans Semi Bold" pitchFamily="34" charset="-122"/>
                <a:cs typeface="Mona Sans Semi Bold" pitchFamily="34" charset="-120"/>
              </a:rPr>
              <a:t>InsightFlow: Predictive Analytics and Modeling</a:t>
            </a:r>
            <a:endParaRPr lang="en-US" sz="3900" dirty="0"/>
          </a:p>
        </p:txBody>
      </p:sp>
      <p:sp>
        <p:nvSpPr>
          <p:cNvPr id="4" name="Text 1"/>
          <p:cNvSpPr/>
          <p:nvPr/>
        </p:nvSpPr>
        <p:spPr>
          <a:xfrm>
            <a:off x="6280190" y="4248626"/>
            <a:ext cx="7556421" cy="1270159"/>
          </a:xfrm>
          <a:prstGeom prst="rect">
            <a:avLst/>
          </a:prstGeom>
          <a:noFill/>
          <a:ln/>
        </p:spPr>
        <p:txBody>
          <a:bodyPr wrap="square" lIns="0" tIns="0" rIns="0" bIns="0" rtlCol="0" anchor="t"/>
          <a:lstStyle/>
          <a:p>
            <a:pPr algn="l" indent="0" marL="0">
              <a:lnSpc>
                <a:spcPts val="2500"/>
              </a:lnSpc>
              <a:buNone/>
            </a:pPr>
            <a:r>
              <a:rPr lang="en-US" sz="1550" dirty="0">
                <a:solidFill>
                  <a:srgbClr val="8F8F8F"/>
                </a:solidFill>
                <a:latin typeface="Funnel Sans" pitchFamily="34" charset="0"/>
                <a:ea typeface="Funnel Sans" pitchFamily="34" charset="-122"/>
                <a:cs typeface="Funnel Sans" pitchFamily="34" charset="-120"/>
              </a:rPr>
              <a:t>A comprehensive machine learning project focused on heart disease prediction using advanced analytics and modeling techniques. This presentation walks through the complete data science workflow from data preparation to model evaluation and selection.</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56736" y="382667"/>
            <a:ext cx="4627483" cy="434935"/>
          </a:xfrm>
          <a:prstGeom prst="rect">
            <a:avLst/>
          </a:prstGeom>
          <a:noFill/>
          <a:ln/>
        </p:spPr>
        <p:txBody>
          <a:bodyPr wrap="none" lIns="0" tIns="0" rIns="0" bIns="0" rtlCol="0" anchor="t"/>
          <a:lstStyle/>
          <a:p>
            <a:pPr algn="l" indent="0" marL="0">
              <a:lnSpc>
                <a:spcPts val="3400"/>
              </a:lnSpc>
              <a:buNone/>
            </a:pPr>
            <a:r>
              <a:rPr lang="en-US" sz="2700" dirty="0">
                <a:solidFill>
                  <a:srgbClr val="DDDDDD"/>
                </a:solidFill>
                <a:latin typeface="Mona Sans Semi Bold" pitchFamily="34" charset="0"/>
                <a:ea typeface="Mona Sans Semi Bold" pitchFamily="34" charset="-122"/>
                <a:cs typeface="Mona Sans Semi Bold" pitchFamily="34" charset="-120"/>
              </a:rPr>
              <a:t>Project Overview and Setup</a:t>
            </a:r>
            <a:endParaRPr lang="en-US" sz="2700" dirty="0"/>
          </a:p>
        </p:txBody>
      </p:sp>
      <p:sp>
        <p:nvSpPr>
          <p:cNvPr id="3" name="Text 1"/>
          <p:cNvSpPr/>
          <p:nvPr/>
        </p:nvSpPr>
        <p:spPr>
          <a:xfrm>
            <a:off x="556736" y="1165503"/>
            <a:ext cx="1739741" cy="217408"/>
          </a:xfrm>
          <a:prstGeom prst="rect">
            <a:avLst/>
          </a:prstGeom>
          <a:noFill/>
          <a:ln/>
        </p:spPr>
        <p:txBody>
          <a:bodyPr wrap="none" lIns="0" tIns="0" rIns="0" bIns="0" rtlCol="0" anchor="t"/>
          <a:lstStyle/>
          <a:p>
            <a:pPr algn="l" indent="0" marL="0">
              <a:lnSpc>
                <a:spcPts val="1700"/>
              </a:lnSpc>
              <a:buNone/>
            </a:pPr>
            <a:r>
              <a:rPr lang="en-US" sz="1350" dirty="0">
                <a:solidFill>
                  <a:srgbClr val="DDDDDD"/>
                </a:solidFill>
                <a:latin typeface="Mona Sans Semi Bold" pitchFamily="34" charset="0"/>
                <a:ea typeface="Mona Sans Semi Bold" pitchFamily="34" charset="-122"/>
                <a:cs typeface="Mona Sans Semi Bold" pitchFamily="34" charset="-120"/>
              </a:rPr>
              <a:t>Core Objectives</a:t>
            </a:r>
            <a:endParaRPr lang="en-US" sz="1350" dirty="0"/>
          </a:p>
        </p:txBody>
      </p:sp>
      <p:sp>
        <p:nvSpPr>
          <p:cNvPr id="4" name="Text 2"/>
          <p:cNvSpPr/>
          <p:nvPr/>
        </p:nvSpPr>
        <p:spPr>
          <a:xfrm>
            <a:off x="556736" y="1522095"/>
            <a:ext cx="6588681" cy="222647"/>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8F8F8F"/>
                </a:solidFill>
                <a:latin typeface="Funnel Sans" pitchFamily="34" charset="0"/>
                <a:ea typeface="Funnel Sans" pitchFamily="34" charset="-122"/>
                <a:cs typeface="Funnel Sans" pitchFamily="34" charset="-120"/>
              </a:rPr>
              <a:t>Load and prepare the heart disease dataset</a:t>
            </a:r>
            <a:endParaRPr lang="en-US" sz="1050" dirty="0"/>
          </a:p>
        </p:txBody>
      </p:sp>
      <p:sp>
        <p:nvSpPr>
          <p:cNvPr id="5" name="Text 3"/>
          <p:cNvSpPr/>
          <p:nvPr/>
        </p:nvSpPr>
        <p:spPr>
          <a:xfrm>
            <a:off x="556736" y="1793438"/>
            <a:ext cx="6588681" cy="222647"/>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8F8F8F"/>
                </a:solidFill>
                <a:latin typeface="Funnel Sans" pitchFamily="34" charset="0"/>
                <a:ea typeface="Funnel Sans" pitchFamily="34" charset="-122"/>
                <a:cs typeface="Funnel Sans" pitchFamily="34" charset="-120"/>
              </a:rPr>
              <a:t>Build predictive machine learning models</a:t>
            </a:r>
            <a:endParaRPr lang="en-US" sz="1050" dirty="0"/>
          </a:p>
        </p:txBody>
      </p:sp>
      <p:sp>
        <p:nvSpPr>
          <p:cNvPr id="6" name="Text 4"/>
          <p:cNvSpPr/>
          <p:nvPr/>
        </p:nvSpPr>
        <p:spPr>
          <a:xfrm>
            <a:off x="556736" y="2064782"/>
            <a:ext cx="6588681" cy="222647"/>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8F8F8F"/>
                </a:solidFill>
                <a:latin typeface="Funnel Sans" pitchFamily="34" charset="0"/>
                <a:ea typeface="Funnel Sans" pitchFamily="34" charset="-122"/>
                <a:cs typeface="Funnel Sans" pitchFamily="34" charset="-120"/>
              </a:rPr>
              <a:t>Train models and generate predictions</a:t>
            </a:r>
            <a:endParaRPr lang="en-US" sz="1050" dirty="0"/>
          </a:p>
        </p:txBody>
      </p:sp>
      <p:sp>
        <p:nvSpPr>
          <p:cNvPr id="7" name="Text 5"/>
          <p:cNvSpPr/>
          <p:nvPr/>
        </p:nvSpPr>
        <p:spPr>
          <a:xfrm>
            <a:off x="556736" y="2336125"/>
            <a:ext cx="6588681" cy="222647"/>
          </a:xfrm>
          <a:prstGeom prst="rect">
            <a:avLst/>
          </a:prstGeom>
          <a:noFill/>
          <a:ln/>
        </p:spPr>
        <p:txBody>
          <a:bodyPr wrap="none" lIns="0" tIns="0" rIns="0" bIns="0" rtlCol="0" anchor="t"/>
          <a:lstStyle/>
          <a:p>
            <a:pPr algn="l" marL="342900" indent="-342900">
              <a:lnSpc>
                <a:spcPts val="1750"/>
              </a:lnSpc>
              <a:buSzPct val="100000"/>
              <a:buChar char="•"/>
            </a:pPr>
            <a:r>
              <a:rPr lang="en-US" sz="1050" dirty="0">
                <a:solidFill>
                  <a:srgbClr val="8F8F8F"/>
                </a:solidFill>
                <a:latin typeface="Funnel Sans" pitchFamily="34" charset="0"/>
                <a:ea typeface="Funnel Sans" pitchFamily="34" charset="-122"/>
                <a:cs typeface="Funnel Sans" pitchFamily="34" charset="-120"/>
              </a:rPr>
              <a:t>Evaluate model performance comprehensively</a:t>
            </a:r>
            <a:endParaRPr lang="en-US" sz="1050" dirty="0"/>
          </a:p>
        </p:txBody>
      </p:sp>
      <p:sp>
        <p:nvSpPr>
          <p:cNvPr id="8" name="Text 6"/>
          <p:cNvSpPr/>
          <p:nvPr/>
        </p:nvSpPr>
        <p:spPr>
          <a:xfrm>
            <a:off x="556736" y="2697956"/>
            <a:ext cx="1918335" cy="217408"/>
          </a:xfrm>
          <a:prstGeom prst="rect">
            <a:avLst/>
          </a:prstGeom>
          <a:noFill/>
          <a:ln/>
        </p:spPr>
        <p:txBody>
          <a:bodyPr wrap="none" lIns="0" tIns="0" rIns="0" bIns="0" rtlCol="0" anchor="t"/>
          <a:lstStyle/>
          <a:p>
            <a:pPr algn="l" indent="0" marL="0">
              <a:lnSpc>
                <a:spcPts val="1700"/>
              </a:lnSpc>
              <a:buNone/>
            </a:pPr>
            <a:r>
              <a:rPr lang="en-US" sz="1350" dirty="0">
                <a:solidFill>
                  <a:srgbClr val="DDDDDD"/>
                </a:solidFill>
                <a:latin typeface="Mona Sans Semi Bold" pitchFamily="34" charset="0"/>
                <a:ea typeface="Mona Sans Semi Bold" pitchFamily="34" charset="-122"/>
                <a:cs typeface="Mona Sans Semi Bold" pitchFamily="34" charset="-120"/>
              </a:rPr>
              <a:t>Technical Environment</a:t>
            </a:r>
            <a:endParaRPr lang="en-US" sz="1350" dirty="0"/>
          </a:p>
        </p:txBody>
      </p:sp>
      <p:sp>
        <p:nvSpPr>
          <p:cNvPr id="9" name="Text 7"/>
          <p:cNvSpPr/>
          <p:nvPr/>
        </p:nvSpPr>
        <p:spPr>
          <a:xfrm>
            <a:off x="556736" y="3054548"/>
            <a:ext cx="6588681" cy="667941"/>
          </a:xfrm>
          <a:prstGeom prst="rect">
            <a:avLst/>
          </a:prstGeom>
          <a:noFill/>
          <a:ln/>
        </p:spPr>
        <p:txBody>
          <a:bodyPr wrap="square" lIns="0" tIns="0" rIns="0" bIns="0" rtlCol="0" anchor="t"/>
          <a:lstStyle/>
          <a:p>
            <a:pPr algn="l" indent="0" marL="0">
              <a:lnSpc>
                <a:spcPts val="1750"/>
              </a:lnSpc>
              <a:buNone/>
            </a:pPr>
            <a:r>
              <a:rPr lang="en-US" sz="1050" dirty="0">
                <a:solidFill>
                  <a:srgbClr val="8F8F8F"/>
                </a:solidFill>
                <a:latin typeface="Funnel Sans" pitchFamily="34" charset="0"/>
                <a:ea typeface="Funnel Sans" pitchFamily="34" charset="-122"/>
                <a:cs typeface="Funnel Sans" pitchFamily="34" charset="-120"/>
              </a:rPr>
              <a:t>The project utilizes Python's essential data science libraries including pandas for data manipulation, numpy for numerical operations, matplotlib and seaborn for visualization. A random seed of 1234 ensures reproducibility across all experiments.</a:t>
            </a:r>
            <a:endParaRPr lang="en-US" sz="1050" dirty="0"/>
          </a:p>
        </p:txBody>
      </p:sp>
      <p:sp>
        <p:nvSpPr>
          <p:cNvPr id="10" name="Text 8"/>
          <p:cNvSpPr/>
          <p:nvPr/>
        </p:nvSpPr>
        <p:spPr>
          <a:xfrm>
            <a:off x="7492603" y="1165503"/>
            <a:ext cx="1739741" cy="217408"/>
          </a:xfrm>
          <a:prstGeom prst="rect">
            <a:avLst/>
          </a:prstGeom>
          <a:noFill/>
          <a:ln/>
        </p:spPr>
        <p:txBody>
          <a:bodyPr wrap="none" lIns="0" tIns="0" rIns="0" bIns="0" rtlCol="0" anchor="t"/>
          <a:lstStyle/>
          <a:p>
            <a:pPr algn="l" indent="0" marL="0">
              <a:lnSpc>
                <a:spcPts val="1700"/>
              </a:lnSpc>
              <a:buNone/>
            </a:pPr>
            <a:r>
              <a:rPr lang="en-US" sz="1350" dirty="0">
                <a:solidFill>
                  <a:srgbClr val="DDDDDD"/>
                </a:solidFill>
                <a:latin typeface="Mona Sans Semi Bold" pitchFamily="34" charset="0"/>
                <a:ea typeface="Mona Sans Semi Bold" pitchFamily="34" charset="-122"/>
                <a:cs typeface="Mona Sans Semi Bold" pitchFamily="34" charset="-120"/>
              </a:rPr>
              <a:t>Dataset Source</a:t>
            </a:r>
            <a:endParaRPr lang="en-US" sz="1350" dirty="0"/>
          </a:p>
        </p:txBody>
      </p:sp>
      <p:sp>
        <p:nvSpPr>
          <p:cNvPr id="11" name="Text 9"/>
          <p:cNvSpPr/>
          <p:nvPr/>
        </p:nvSpPr>
        <p:spPr>
          <a:xfrm>
            <a:off x="7492603" y="1522095"/>
            <a:ext cx="6588681" cy="667941"/>
          </a:xfrm>
          <a:prstGeom prst="rect">
            <a:avLst/>
          </a:prstGeom>
          <a:noFill/>
          <a:ln/>
        </p:spPr>
        <p:txBody>
          <a:bodyPr wrap="square" lIns="0" tIns="0" rIns="0" bIns="0" rtlCol="0" anchor="t"/>
          <a:lstStyle/>
          <a:p>
            <a:pPr algn="l" indent="0" marL="0">
              <a:lnSpc>
                <a:spcPts val="1750"/>
              </a:lnSpc>
              <a:buNone/>
            </a:pPr>
            <a:r>
              <a:rPr lang="en-US" sz="1050" dirty="0">
                <a:solidFill>
                  <a:srgbClr val="8F8F8F"/>
                </a:solidFill>
                <a:latin typeface="Funnel Sans" pitchFamily="34" charset="0"/>
                <a:ea typeface="Funnel Sans" pitchFamily="34" charset="-122"/>
                <a:cs typeface="Funnel Sans" pitchFamily="34" charset="-120"/>
              </a:rPr>
              <a:t>The analysis uses an anonymized heart disease dataset containing patient medical data and diagnostic outcomes. The dataset is publicly available from the zero-to-mastery-ml GitHub repository and includes 303 patient records with 14 features.</a:t>
            </a:r>
            <a:endParaRPr lang="en-US" sz="1050" dirty="0"/>
          </a:p>
        </p:txBody>
      </p:sp>
      <p:pic>
        <p:nvPicPr>
          <p:cNvPr id="12" name="Image 0" descr="preencoded.png">    </p:cNvPr>
          <p:cNvPicPr>
            <a:picLocks noChangeAspect="1"/>
          </p:cNvPicPr>
          <p:nvPr/>
        </p:nvPicPr>
        <p:blipFill>
          <a:blip r:embed="rId1"/>
          <a:stretch>
            <a:fillRect/>
          </a:stretch>
        </p:blipFill>
        <p:spPr>
          <a:xfrm>
            <a:off x="7492603" y="2346603"/>
            <a:ext cx="6588681" cy="658868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595360" y="0"/>
            <a:ext cx="6035040" cy="8229600"/>
          </a:xfrm>
          <a:prstGeom prst="rect">
            <a:avLst/>
          </a:prstGeom>
        </p:spPr>
      </p:pic>
      <p:sp>
        <p:nvSpPr>
          <p:cNvPr id="3" name="Text 0"/>
          <p:cNvSpPr/>
          <p:nvPr/>
        </p:nvSpPr>
        <p:spPr>
          <a:xfrm>
            <a:off x="761405" y="673537"/>
            <a:ext cx="7621191" cy="1189673"/>
          </a:xfrm>
          <a:prstGeom prst="rect">
            <a:avLst/>
          </a:prstGeom>
          <a:noFill/>
          <a:ln/>
        </p:spPr>
        <p:txBody>
          <a:bodyPr wrap="square" lIns="0" tIns="0" rIns="0" bIns="0" rtlCol="0" anchor="t"/>
          <a:lstStyle/>
          <a:p>
            <a:pPr algn="l" indent="0" marL="0">
              <a:lnSpc>
                <a:spcPts val="4650"/>
              </a:lnSpc>
              <a:buNone/>
            </a:pPr>
            <a:r>
              <a:rPr lang="en-US" sz="3700" dirty="0">
                <a:solidFill>
                  <a:srgbClr val="DDDDDD"/>
                </a:solidFill>
                <a:latin typeface="Mona Sans Semi Bold" pitchFamily="34" charset="0"/>
                <a:ea typeface="Mona Sans Semi Bold" pitchFamily="34" charset="-122"/>
                <a:cs typeface="Mona Sans Semi Bold" pitchFamily="34" charset="-120"/>
              </a:rPr>
              <a:t>Dataset Exploration and Initial Analysis</a:t>
            </a:r>
            <a:endParaRPr lang="en-US" sz="3700" dirty="0"/>
          </a:p>
        </p:txBody>
      </p:sp>
      <p:sp>
        <p:nvSpPr>
          <p:cNvPr id="4" name="Shape 1"/>
          <p:cNvSpPr/>
          <p:nvPr/>
        </p:nvSpPr>
        <p:spPr>
          <a:xfrm>
            <a:off x="761405" y="2148721"/>
            <a:ext cx="3715464" cy="2253972"/>
          </a:xfrm>
          <a:prstGeom prst="roundRect">
            <a:avLst>
              <a:gd name="adj" fmla="val 3547"/>
            </a:avLst>
          </a:prstGeom>
          <a:solidFill>
            <a:srgbClr val="404040"/>
          </a:solidFill>
          <a:ln w="7620">
            <a:solidFill>
              <a:srgbClr val="595959"/>
            </a:solidFill>
            <a:prstDash val="solid"/>
          </a:ln>
        </p:spPr>
      </p:sp>
      <p:sp>
        <p:nvSpPr>
          <p:cNvPr id="5" name="Text 2"/>
          <p:cNvSpPr/>
          <p:nvPr/>
        </p:nvSpPr>
        <p:spPr>
          <a:xfrm>
            <a:off x="959287" y="2346603"/>
            <a:ext cx="2379464" cy="297418"/>
          </a:xfrm>
          <a:prstGeom prst="rect">
            <a:avLst/>
          </a:prstGeom>
          <a:noFill/>
          <a:ln/>
        </p:spPr>
        <p:txBody>
          <a:bodyPr wrap="none" lIns="0" tIns="0" rIns="0" bIns="0" rtlCol="0" anchor="t"/>
          <a:lstStyle/>
          <a:p>
            <a:pPr algn="l" indent="0" marL="0">
              <a:lnSpc>
                <a:spcPts val="2300"/>
              </a:lnSpc>
              <a:buNone/>
            </a:pPr>
            <a:r>
              <a:rPr lang="en-US" sz="1850" dirty="0">
                <a:solidFill>
                  <a:srgbClr val="FFFFFF"/>
                </a:solidFill>
                <a:latin typeface="Mona Sans Semi Bold" pitchFamily="34" charset="0"/>
                <a:ea typeface="Mona Sans Semi Bold" pitchFamily="34" charset="-122"/>
                <a:cs typeface="Mona Sans Semi Bold" pitchFamily="34" charset="-120"/>
              </a:rPr>
              <a:t>Dataset Dimensions</a:t>
            </a:r>
            <a:endParaRPr lang="en-US" sz="1850" dirty="0"/>
          </a:p>
        </p:txBody>
      </p:sp>
      <p:sp>
        <p:nvSpPr>
          <p:cNvPr id="6" name="Text 3"/>
          <p:cNvSpPr/>
          <p:nvPr/>
        </p:nvSpPr>
        <p:spPr>
          <a:xfrm>
            <a:off x="959287" y="2758202"/>
            <a:ext cx="3319701" cy="304562"/>
          </a:xfrm>
          <a:prstGeom prst="rect">
            <a:avLst/>
          </a:prstGeom>
          <a:noFill/>
          <a:ln/>
        </p:spPr>
        <p:txBody>
          <a:bodyPr wrap="none" lIns="0" tIns="0" rIns="0" bIns="0" rtlCol="0" anchor="t"/>
          <a:lstStyle/>
          <a:p>
            <a:pPr algn="l" indent="0" marL="0">
              <a:lnSpc>
                <a:spcPts val="2350"/>
              </a:lnSpc>
              <a:buNone/>
            </a:pPr>
            <a:r>
              <a:rPr lang="en-US" sz="1450" b="1" dirty="0">
                <a:solidFill>
                  <a:srgbClr val="FFFFFF"/>
                </a:solidFill>
                <a:latin typeface="Funnel Sans" pitchFamily="34" charset="0"/>
                <a:ea typeface="Funnel Sans" pitchFamily="34" charset="-122"/>
                <a:cs typeface="Funnel Sans" pitchFamily="34" charset="-120"/>
              </a:rPr>
              <a:t>303 rows × 14 columns</a:t>
            </a:r>
            <a:endParaRPr lang="en-US" sz="1450" dirty="0"/>
          </a:p>
        </p:txBody>
      </p:sp>
      <p:sp>
        <p:nvSpPr>
          <p:cNvPr id="7" name="Text 4"/>
          <p:cNvSpPr/>
          <p:nvPr/>
        </p:nvSpPr>
        <p:spPr>
          <a:xfrm>
            <a:off x="959287" y="3176945"/>
            <a:ext cx="3319701" cy="913686"/>
          </a:xfrm>
          <a:prstGeom prst="rect">
            <a:avLst/>
          </a:prstGeom>
          <a:noFill/>
          <a:ln/>
        </p:spPr>
        <p:txBody>
          <a:bodyPr wrap="square" lIns="0" tIns="0" rIns="0" bIns="0" rtlCol="0" anchor="t"/>
          <a:lstStyle/>
          <a:p>
            <a:pPr algn="l" indent="0" marL="0">
              <a:lnSpc>
                <a:spcPts val="2350"/>
              </a:lnSpc>
              <a:buNone/>
            </a:pPr>
            <a:r>
              <a:rPr lang="en-US" sz="1450" dirty="0">
                <a:solidFill>
                  <a:srgbClr val="FFFFFF"/>
                </a:solidFill>
                <a:latin typeface="Funnel Sans" pitchFamily="34" charset="0"/>
                <a:ea typeface="Funnel Sans" pitchFamily="34" charset="-122"/>
                <a:cs typeface="Funnel Sans" pitchFamily="34" charset="-120"/>
              </a:rPr>
              <a:t>Complete dataset with no missing values, ensuring data quality and reliability for modeling</a:t>
            </a:r>
            <a:endParaRPr lang="en-US" sz="1450" dirty="0"/>
          </a:p>
        </p:txBody>
      </p:sp>
      <p:sp>
        <p:nvSpPr>
          <p:cNvPr id="8" name="Shape 5"/>
          <p:cNvSpPr/>
          <p:nvPr/>
        </p:nvSpPr>
        <p:spPr>
          <a:xfrm>
            <a:off x="4667131" y="2148721"/>
            <a:ext cx="3715464" cy="2253972"/>
          </a:xfrm>
          <a:prstGeom prst="roundRect">
            <a:avLst>
              <a:gd name="adj" fmla="val 3547"/>
            </a:avLst>
          </a:prstGeom>
          <a:solidFill>
            <a:srgbClr val="404040"/>
          </a:solidFill>
          <a:ln w="7620">
            <a:solidFill>
              <a:srgbClr val="595959"/>
            </a:solidFill>
            <a:prstDash val="solid"/>
          </a:ln>
        </p:spPr>
      </p:sp>
      <p:sp>
        <p:nvSpPr>
          <p:cNvPr id="9" name="Text 6"/>
          <p:cNvSpPr/>
          <p:nvPr/>
        </p:nvSpPr>
        <p:spPr>
          <a:xfrm>
            <a:off x="4865013" y="2346603"/>
            <a:ext cx="2379464" cy="297418"/>
          </a:xfrm>
          <a:prstGeom prst="rect">
            <a:avLst/>
          </a:prstGeom>
          <a:noFill/>
          <a:ln/>
        </p:spPr>
        <p:txBody>
          <a:bodyPr wrap="none" lIns="0" tIns="0" rIns="0" bIns="0" rtlCol="0" anchor="t"/>
          <a:lstStyle/>
          <a:p>
            <a:pPr algn="l" indent="0" marL="0">
              <a:lnSpc>
                <a:spcPts val="2300"/>
              </a:lnSpc>
              <a:buNone/>
            </a:pPr>
            <a:r>
              <a:rPr lang="en-US" sz="1850" dirty="0">
                <a:solidFill>
                  <a:srgbClr val="FFFFFF"/>
                </a:solidFill>
                <a:latin typeface="Mona Sans Semi Bold" pitchFamily="34" charset="0"/>
                <a:ea typeface="Mona Sans Semi Bold" pitchFamily="34" charset="-122"/>
                <a:cs typeface="Mona Sans Semi Bold" pitchFamily="34" charset="-120"/>
              </a:rPr>
              <a:t>Target Distribution</a:t>
            </a:r>
            <a:endParaRPr lang="en-US" sz="1850" dirty="0"/>
          </a:p>
        </p:txBody>
      </p:sp>
      <p:sp>
        <p:nvSpPr>
          <p:cNvPr id="10" name="Text 7"/>
          <p:cNvSpPr/>
          <p:nvPr/>
        </p:nvSpPr>
        <p:spPr>
          <a:xfrm>
            <a:off x="4865013" y="2758202"/>
            <a:ext cx="3319701" cy="304562"/>
          </a:xfrm>
          <a:prstGeom prst="rect">
            <a:avLst/>
          </a:prstGeom>
          <a:noFill/>
          <a:ln/>
        </p:spPr>
        <p:txBody>
          <a:bodyPr wrap="none" lIns="0" tIns="0" rIns="0" bIns="0" rtlCol="0" anchor="t"/>
          <a:lstStyle/>
          <a:p>
            <a:pPr algn="l" indent="0" marL="0">
              <a:lnSpc>
                <a:spcPts val="2350"/>
              </a:lnSpc>
              <a:buNone/>
            </a:pPr>
            <a:r>
              <a:rPr lang="en-US" sz="1450" b="1" dirty="0">
                <a:solidFill>
                  <a:srgbClr val="FFFFFF"/>
                </a:solidFill>
                <a:latin typeface="Funnel Sans" pitchFamily="34" charset="0"/>
                <a:ea typeface="Funnel Sans" pitchFamily="34" charset="-122"/>
                <a:cs typeface="Funnel Sans" pitchFamily="34" charset="-120"/>
              </a:rPr>
              <a:t>165 positive cases</a:t>
            </a:r>
            <a:endParaRPr lang="en-US" sz="1450" dirty="0"/>
          </a:p>
        </p:txBody>
      </p:sp>
      <p:sp>
        <p:nvSpPr>
          <p:cNvPr id="11" name="Text 8"/>
          <p:cNvSpPr/>
          <p:nvPr/>
        </p:nvSpPr>
        <p:spPr>
          <a:xfrm>
            <a:off x="4865013" y="3176945"/>
            <a:ext cx="3319701" cy="304562"/>
          </a:xfrm>
          <a:prstGeom prst="rect">
            <a:avLst/>
          </a:prstGeom>
          <a:noFill/>
          <a:ln/>
        </p:spPr>
        <p:txBody>
          <a:bodyPr wrap="none" lIns="0" tIns="0" rIns="0" bIns="0" rtlCol="0" anchor="t"/>
          <a:lstStyle/>
          <a:p>
            <a:pPr algn="l" indent="0" marL="0">
              <a:lnSpc>
                <a:spcPts val="2350"/>
              </a:lnSpc>
              <a:buNone/>
            </a:pPr>
            <a:r>
              <a:rPr lang="en-US" sz="1450" b="1" dirty="0">
                <a:solidFill>
                  <a:srgbClr val="FFFFFF"/>
                </a:solidFill>
                <a:latin typeface="Funnel Sans" pitchFamily="34" charset="0"/>
                <a:ea typeface="Funnel Sans" pitchFamily="34" charset="-122"/>
                <a:cs typeface="Funnel Sans" pitchFamily="34" charset="-120"/>
              </a:rPr>
              <a:t>138 negative cases</a:t>
            </a:r>
            <a:endParaRPr lang="en-US" sz="1450" dirty="0"/>
          </a:p>
        </p:txBody>
      </p:sp>
      <p:sp>
        <p:nvSpPr>
          <p:cNvPr id="12" name="Text 9"/>
          <p:cNvSpPr/>
          <p:nvPr/>
        </p:nvSpPr>
        <p:spPr>
          <a:xfrm>
            <a:off x="4865013" y="3595688"/>
            <a:ext cx="3319701" cy="609124"/>
          </a:xfrm>
          <a:prstGeom prst="rect">
            <a:avLst/>
          </a:prstGeom>
          <a:noFill/>
          <a:ln/>
        </p:spPr>
        <p:txBody>
          <a:bodyPr wrap="square" lIns="0" tIns="0" rIns="0" bIns="0" rtlCol="0" anchor="t"/>
          <a:lstStyle/>
          <a:p>
            <a:pPr algn="l" indent="0" marL="0">
              <a:lnSpc>
                <a:spcPts val="2350"/>
              </a:lnSpc>
              <a:buNone/>
            </a:pPr>
            <a:r>
              <a:rPr lang="en-US" sz="1450" dirty="0">
                <a:solidFill>
                  <a:srgbClr val="FFFFFF"/>
                </a:solidFill>
                <a:latin typeface="Funnel Sans" pitchFamily="34" charset="0"/>
                <a:ea typeface="Funnel Sans" pitchFamily="34" charset="-122"/>
                <a:cs typeface="Funnel Sans" pitchFamily="34" charset="-120"/>
              </a:rPr>
              <a:t>Relatively balanced classes with 54.5% positive and 45.5% negative cases</a:t>
            </a:r>
            <a:endParaRPr lang="en-US" sz="1450" dirty="0"/>
          </a:p>
        </p:txBody>
      </p:sp>
      <p:sp>
        <p:nvSpPr>
          <p:cNvPr id="13" name="Shape 10"/>
          <p:cNvSpPr/>
          <p:nvPr/>
        </p:nvSpPr>
        <p:spPr>
          <a:xfrm>
            <a:off x="761405" y="4592955"/>
            <a:ext cx="7621191" cy="1530668"/>
          </a:xfrm>
          <a:prstGeom prst="roundRect">
            <a:avLst>
              <a:gd name="adj" fmla="val 5223"/>
            </a:avLst>
          </a:prstGeom>
          <a:solidFill>
            <a:srgbClr val="404040"/>
          </a:solidFill>
          <a:ln w="7620">
            <a:solidFill>
              <a:srgbClr val="595959"/>
            </a:solidFill>
            <a:prstDash val="solid"/>
          </a:ln>
        </p:spPr>
      </p:sp>
      <p:sp>
        <p:nvSpPr>
          <p:cNvPr id="14" name="Text 11"/>
          <p:cNvSpPr/>
          <p:nvPr/>
        </p:nvSpPr>
        <p:spPr>
          <a:xfrm>
            <a:off x="959287" y="4790837"/>
            <a:ext cx="2379464" cy="297418"/>
          </a:xfrm>
          <a:prstGeom prst="rect">
            <a:avLst/>
          </a:prstGeom>
          <a:noFill/>
          <a:ln/>
        </p:spPr>
        <p:txBody>
          <a:bodyPr wrap="none" lIns="0" tIns="0" rIns="0" bIns="0" rtlCol="0" anchor="t"/>
          <a:lstStyle/>
          <a:p>
            <a:pPr algn="l" indent="0" marL="0">
              <a:lnSpc>
                <a:spcPts val="2300"/>
              </a:lnSpc>
              <a:buNone/>
            </a:pPr>
            <a:r>
              <a:rPr lang="en-US" sz="1850" dirty="0">
                <a:solidFill>
                  <a:srgbClr val="FFFFFF"/>
                </a:solidFill>
                <a:latin typeface="Mona Sans Semi Bold" pitchFamily="34" charset="0"/>
                <a:ea typeface="Mona Sans Semi Bold" pitchFamily="34" charset="-122"/>
                <a:cs typeface="Mona Sans Semi Bold" pitchFamily="34" charset="-120"/>
              </a:rPr>
              <a:t>Data Quality</a:t>
            </a:r>
            <a:endParaRPr lang="en-US" sz="1850" dirty="0"/>
          </a:p>
        </p:txBody>
      </p:sp>
      <p:sp>
        <p:nvSpPr>
          <p:cNvPr id="15" name="Text 12"/>
          <p:cNvSpPr/>
          <p:nvPr/>
        </p:nvSpPr>
        <p:spPr>
          <a:xfrm>
            <a:off x="959287" y="5202436"/>
            <a:ext cx="7225427" cy="304562"/>
          </a:xfrm>
          <a:prstGeom prst="rect">
            <a:avLst/>
          </a:prstGeom>
          <a:noFill/>
          <a:ln/>
        </p:spPr>
        <p:txBody>
          <a:bodyPr wrap="none" lIns="0" tIns="0" rIns="0" bIns="0" rtlCol="0" anchor="t"/>
          <a:lstStyle/>
          <a:p>
            <a:pPr algn="l" indent="0" marL="0">
              <a:lnSpc>
                <a:spcPts val="2350"/>
              </a:lnSpc>
              <a:buNone/>
            </a:pPr>
            <a:r>
              <a:rPr lang="en-US" sz="1450" b="1" dirty="0">
                <a:solidFill>
                  <a:srgbClr val="FFFFFF"/>
                </a:solidFill>
                <a:latin typeface="Funnel Sans" pitchFamily="34" charset="0"/>
                <a:ea typeface="Funnel Sans" pitchFamily="34" charset="-122"/>
                <a:cs typeface="Funnel Sans" pitchFamily="34" charset="-120"/>
              </a:rPr>
              <a:t>Zero missing values</a:t>
            </a:r>
            <a:endParaRPr lang="en-US" sz="1450" dirty="0"/>
          </a:p>
        </p:txBody>
      </p:sp>
      <p:sp>
        <p:nvSpPr>
          <p:cNvPr id="16" name="Text 13"/>
          <p:cNvSpPr/>
          <p:nvPr/>
        </p:nvSpPr>
        <p:spPr>
          <a:xfrm>
            <a:off x="959287" y="5621179"/>
            <a:ext cx="7225427" cy="304562"/>
          </a:xfrm>
          <a:prstGeom prst="rect">
            <a:avLst/>
          </a:prstGeom>
          <a:noFill/>
          <a:ln/>
        </p:spPr>
        <p:txBody>
          <a:bodyPr wrap="none" lIns="0" tIns="0" rIns="0" bIns="0" rtlCol="0" anchor="t"/>
          <a:lstStyle/>
          <a:p>
            <a:pPr algn="l" indent="0" marL="0">
              <a:lnSpc>
                <a:spcPts val="2350"/>
              </a:lnSpc>
              <a:buNone/>
            </a:pPr>
            <a:r>
              <a:rPr lang="en-US" sz="1450" dirty="0">
                <a:solidFill>
                  <a:srgbClr val="FFFFFF"/>
                </a:solidFill>
                <a:latin typeface="Funnel Sans" pitchFamily="34" charset="0"/>
                <a:ea typeface="Funnel Sans" pitchFamily="34" charset="-122"/>
                <a:cs typeface="Funnel Sans" pitchFamily="34" charset="-120"/>
              </a:rPr>
              <a:t>All features have appropriate data types with no null values requiring imputation</a:t>
            </a:r>
            <a:endParaRPr lang="en-US" sz="1450" dirty="0"/>
          </a:p>
        </p:txBody>
      </p:sp>
      <p:sp>
        <p:nvSpPr>
          <p:cNvPr id="17" name="Text 14"/>
          <p:cNvSpPr/>
          <p:nvPr/>
        </p:nvSpPr>
        <p:spPr>
          <a:xfrm>
            <a:off x="761405" y="6337697"/>
            <a:ext cx="7621191" cy="1218248"/>
          </a:xfrm>
          <a:prstGeom prst="rect">
            <a:avLst/>
          </a:prstGeom>
          <a:noFill/>
          <a:ln/>
        </p:spPr>
        <p:txBody>
          <a:bodyPr wrap="square" lIns="0" tIns="0" rIns="0" bIns="0" rtlCol="0" anchor="t"/>
          <a:lstStyle/>
          <a:p>
            <a:pPr algn="l" indent="0" marL="0">
              <a:lnSpc>
                <a:spcPts val="2350"/>
              </a:lnSpc>
              <a:buNone/>
            </a:pPr>
            <a:r>
              <a:rPr lang="en-US" sz="1450" dirty="0">
                <a:solidFill>
                  <a:srgbClr val="8F8F8F"/>
                </a:solidFill>
                <a:latin typeface="Funnel Sans" pitchFamily="34" charset="0"/>
                <a:ea typeface="Funnel Sans" pitchFamily="34" charset="-122"/>
                <a:cs typeface="Funnel Sans" pitchFamily="34" charset="-120"/>
              </a:rPr>
              <a:t>Initial examination revealed a clean dataset with proper data types across all features. The age range spans from 29 to 77 years with a mean of 54.4 years. Key physiological measurements include resting blood pressure (trestbps) averaging 131.6 mm Hg and maximum heart rate (thalach) averaging 149.6 bpm.</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14005" y="422077"/>
            <a:ext cx="7885509" cy="479822"/>
          </a:xfrm>
          <a:prstGeom prst="rect">
            <a:avLst/>
          </a:prstGeom>
          <a:noFill/>
          <a:ln/>
        </p:spPr>
        <p:txBody>
          <a:bodyPr wrap="none" lIns="0" tIns="0" rIns="0" bIns="0" rtlCol="0" anchor="t"/>
          <a:lstStyle/>
          <a:p>
            <a:pPr algn="l" indent="0" marL="0">
              <a:lnSpc>
                <a:spcPts val="3750"/>
              </a:lnSpc>
              <a:buNone/>
            </a:pPr>
            <a:r>
              <a:rPr lang="en-US" sz="3000" dirty="0">
                <a:solidFill>
                  <a:srgbClr val="DDDDDD"/>
                </a:solidFill>
                <a:latin typeface="Mona Sans Semi Bold" pitchFamily="34" charset="0"/>
                <a:ea typeface="Mona Sans Semi Bold" pitchFamily="34" charset="-122"/>
                <a:cs typeface="Mona Sans Semi Bold" pitchFamily="34" charset="-120"/>
              </a:rPr>
              <a:t>Correlation Analysis and Feature Selection</a:t>
            </a:r>
            <a:endParaRPr lang="en-US" sz="3000" dirty="0"/>
          </a:p>
        </p:txBody>
      </p:sp>
      <p:sp>
        <p:nvSpPr>
          <p:cNvPr id="3" name="Text 1"/>
          <p:cNvSpPr/>
          <p:nvPr/>
        </p:nvSpPr>
        <p:spPr>
          <a:xfrm>
            <a:off x="614005" y="1285637"/>
            <a:ext cx="2287786" cy="239911"/>
          </a:xfrm>
          <a:prstGeom prst="rect">
            <a:avLst/>
          </a:prstGeom>
          <a:noFill/>
          <a:ln/>
        </p:spPr>
        <p:txBody>
          <a:bodyPr wrap="none" lIns="0" tIns="0" rIns="0" bIns="0" rtlCol="0" anchor="t"/>
          <a:lstStyle/>
          <a:p>
            <a:pPr algn="l" indent="0" marL="0">
              <a:lnSpc>
                <a:spcPts val="1850"/>
              </a:lnSpc>
              <a:buNone/>
            </a:pPr>
            <a:r>
              <a:rPr lang="en-US" sz="1500" dirty="0">
                <a:solidFill>
                  <a:srgbClr val="DDDDDD"/>
                </a:solidFill>
                <a:latin typeface="Mona Sans Semi Bold" pitchFamily="34" charset="0"/>
                <a:ea typeface="Mona Sans Semi Bold" pitchFamily="34" charset="-122"/>
                <a:cs typeface="Mona Sans Semi Bold" pitchFamily="34" charset="-120"/>
              </a:rPr>
              <a:t>Top Correlating Features</a:t>
            </a:r>
            <a:endParaRPr lang="en-US" sz="1500" dirty="0"/>
          </a:p>
        </p:txBody>
      </p:sp>
      <p:sp>
        <p:nvSpPr>
          <p:cNvPr id="4" name="Text 2"/>
          <p:cNvSpPr/>
          <p:nvPr/>
        </p:nvSpPr>
        <p:spPr>
          <a:xfrm>
            <a:off x="614005" y="1679019"/>
            <a:ext cx="5136118" cy="245507"/>
          </a:xfrm>
          <a:prstGeom prst="rect">
            <a:avLst/>
          </a:prstGeom>
          <a:noFill/>
          <a:ln/>
        </p:spPr>
        <p:txBody>
          <a:bodyPr wrap="none" lIns="0" tIns="0" rIns="0" bIns="0" rtlCol="0" anchor="t"/>
          <a:lstStyle/>
          <a:p>
            <a:pPr algn="l" marL="342900" indent="-342900">
              <a:lnSpc>
                <a:spcPts val="1900"/>
              </a:lnSpc>
              <a:buSzPct val="100000"/>
              <a:buChar char="•"/>
            </a:pPr>
            <a:r>
              <a:rPr lang="en-US" sz="1200" b="1" dirty="0">
                <a:solidFill>
                  <a:srgbClr val="8F8F8F"/>
                </a:solidFill>
                <a:latin typeface="Funnel Sans" pitchFamily="34" charset="0"/>
                <a:ea typeface="Funnel Sans" pitchFamily="34" charset="-122"/>
                <a:cs typeface="Funnel Sans" pitchFamily="34" charset="-120"/>
              </a:rPr>
              <a:t>cp (chest pain):</a:t>
            </a:r>
            <a:pPr algn="l" indent="0" marL="0">
              <a:lnSpc>
                <a:spcPts val="1900"/>
              </a:lnSpc>
              <a:buNone/>
            </a:pPr>
            <a:r>
              <a:rPr lang="en-US" sz="1200" dirty="0">
                <a:solidFill>
                  <a:srgbClr val="8F8F8F"/>
                </a:solidFill>
                <a:latin typeface="Funnel Sans" pitchFamily="34" charset="0"/>
                <a:ea typeface="Funnel Sans" pitchFamily="34" charset="-122"/>
                <a:cs typeface="Funnel Sans" pitchFamily="34" charset="-120"/>
              </a:rPr>
              <a:t> 0.434 correlation</a:t>
            </a:r>
            <a:endParaRPr lang="en-US" sz="1200" dirty="0"/>
          </a:p>
        </p:txBody>
      </p:sp>
      <p:sp>
        <p:nvSpPr>
          <p:cNvPr id="5" name="Text 3"/>
          <p:cNvSpPr/>
          <p:nvPr/>
        </p:nvSpPr>
        <p:spPr>
          <a:xfrm>
            <a:off x="614005" y="1978223"/>
            <a:ext cx="5136118" cy="245507"/>
          </a:xfrm>
          <a:prstGeom prst="rect">
            <a:avLst/>
          </a:prstGeom>
          <a:noFill/>
          <a:ln/>
        </p:spPr>
        <p:txBody>
          <a:bodyPr wrap="none" lIns="0" tIns="0" rIns="0" bIns="0" rtlCol="0" anchor="t"/>
          <a:lstStyle/>
          <a:p>
            <a:pPr algn="l" marL="342900" indent="-342900">
              <a:lnSpc>
                <a:spcPts val="1900"/>
              </a:lnSpc>
              <a:buSzPct val="100000"/>
              <a:buChar char="•"/>
            </a:pPr>
            <a:r>
              <a:rPr lang="en-US" sz="1200" b="1" dirty="0">
                <a:solidFill>
                  <a:srgbClr val="8F8F8F"/>
                </a:solidFill>
                <a:latin typeface="Funnel Sans" pitchFamily="34" charset="0"/>
                <a:ea typeface="Funnel Sans" pitchFamily="34" charset="-122"/>
                <a:cs typeface="Funnel Sans" pitchFamily="34" charset="-120"/>
              </a:rPr>
              <a:t>thalach (max heart rate):</a:t>
            </a:r>
            <a:pPr algn="l" indent="0" marL="0">
              <a:lnSpc>
                <a:spcPts val="1900"/>
              </a:lnSpc>
              <a:buNone/>
            </a:pPr>
            <a:r>
              <a:rPr lang="en-US" sz="1200" dirty="0">
                <a:solidFill>
                  <a:srgbClr val="8F8F8F"/>
                </a:solidFill>
                <a:latin typeface="Funnel Sans" pitchFamily="34" charset="0"/>
                <a:ea typeface="Funnel Sans" pitchFamily="34" charset="-122"/>
                <a:cs typeface="Funnel Sans" pitchFamily="34" charset="-120"/>
              </a:rPr>
              <a:t> 0.422</a:t>
            </a:r>
            <a:endParaRPr lang="en-US" sz="1200" dirty="0"/>
          </a:p>
        </p:txBody>
      </p:sp>
      <p:sp>
        <p:nvSpPr>
          <p:cNvPr id="6" name="Text 4"/>
          <p:cNvSpPr/>
          <p:nvPr/>
        </p:nvSpPr>
        <p:spPr>
          <a:xfrm>
            <a:off x="614005" y="2277428"/>
            <a:ext cx="5136118" cy="245507"/>
          </a:xfrm>
          <a:prstGeom prst="rect">
            <a:avLst/>
          </a:prstGeom>
          <a:noFill/>
          <a:ln/>
        </p:spPr>
        <p:txBody>
          <a:bodyPr wrap="none" lIns="0" tIns="0" rIns="0" bIns="0" rtlCol="0" anchor="t"/>
          <a:lstStyle/>
          <a:p>
            <a:pPr algn="l" marL="342900" indent="-342900">
              <a:lnSpc>
                <a:spcPts val="1900"/>
              </a:lnSpc>
              <a:buSzPct val="100000"/>
              <a:buChar char="•"/>
            </a:pPr>
            <a:r>
              <a:rPr lang="en-US" sz="1200" b="1" dirty="0">
                <a:solidFill>
                  <a:srgbClr val="8F8F8F"/>
                </a:solidFill>
                <a:latin typeface="Funnel Sans" pitchFamily="34" charset="0"/>
                <a:ea typeface="Funnel Sans" pitchFamily="34" charset="-122"/>
                <a:cs typeface="Funnel Sans" pitchFamily="34" charset="-120"/>
              </a:rPr>
              <a:t>slope:</a:t>
            </a:r>
            <a:pPr algn="l" indent="0" marL="0">
              <a:lnSpc>
                <a:spcPts val="1900"/>
              </a:lnSpc>
              <a:buNone/>
            </a:pPr>
            <a:r>
              <a:rPr lang="en-US" sz="1200" dirty="0">
                <a:solidFill>
                  <a:srgbClr val="8F8F8F"/>
                </a:solidFill>
                <a:latin typeface="Funnel Sans" pitchFamily="34" charset="0"/>
                <a:ea typeface="Funnel Sans" pitchFamily="34" charset="-122"/>
                <a:cs typeface="Funnel Sans" pitchFamily="34" charset="-120"/>
              </a:rPr>
              <a:t> 0.346</a:t>
            </a:r>
            <a:endParaRPr lang="en-US" sz="1200" dirty="0"/>
          </a:p>
        </p:txBody>
      </p:sp>
      <p:sp>
        <p:nvSpPr>
          <p:cNvPr id="7" name="Text 5"/>
          <p:cNvSpPr/>
          <p:nvPr/>
        </p:nvSpPr>
        <p:spPr>
          <a:xfrm>
            <a:off x="614005" y="2576632"/>
            <a:ext cx="5136118" cy="245507"/>
          </a:xfrm>
          <a:prstGeom prst="rect">
            <a:avLst/>
          </a:prstGeom>
          <a:noFill/>
          <a:ln/>
        </p:spPr>
        <p:txBody>
          <a:bodyPr wrap="none" lIns="0" tIns="0" rIns="0" bIns="0" rtlCol="0" anchor="t"/>
          <a:lstStyle/>
          <a:p>
            <a:pPr algn="l" marL="342900" indent="-342900">
              <a:lnSpc>
                <a:spcPts val="1900"/>
              </a:lnSpc>
              <a:buSzPct val="100000"/>
              <a:buChar char="•"/>
            </a:pPr>
            <a:r>
              <a:rPr lang="en-US" sz="1200" b="1" dirty="0">
                <a:solidFill>
                  <a:srgbClr val="8F8F8F"/>
                </a:solidFill>
                <a:latin typeface="Funnel Sans" pitchFamily="34" charset="0"/>
                <a:ea typeface="Funnel Sans" pitchFamily="34" charset="-122"/>
                <a:cs typeface="Funnel Sans" pitchFamily="34" charset="-120"/>
              </a:rPr>
              <a:t>exang (exercise angina):</a:t>
            </a:r>
            <a:pPr algn="l" indent="0" marL="0">
              <a:lnSpc>
                <a:spcPts val="1900"/>
              </a:lnSpc>
              <a:buNone/>
            </a:pPr>
            <a:r>
              <a:rPr lang="en-US" sz="1200" dirty="0">
                <a:solidFill>
                  <a:srgbClr val="8F8F8F"/>
                </a:solidFill>
                <a:latin typeface="Funnel Sans" pitchFamily="34" charset="0"/>
                <a:ea typeface="Funnel Sans" pitchFamily="34" charset="-122"/>
                <a:cs typeface="Funnel Sans" pitchFamily="34" charset="-120"/>
              </a:rPr>
              <a:t> -0.437</a:t>
            </a:r>
            <a:endParaRPr lang="en-US" sz="1200" dirty="0"/>
          </a:p>
        </p:txBody>
      </p:sp>
      <p:sp>
        <p:nvSpPr>
          <p:cNvPr id="8" name="Text 6"/>
          <p:cNvSpPr/>
          <p:nvPr/>
        </p:nvSpPr>
        <p:spPr>
          <a:xfrm>
            <a:off x="614005" y="2875836"/>
            <a:ext cx="5136118" cy="245507"/>
          </a:xfrm>
          <a:prstGeom prst="rect">
            <a:avLst/>
          </a:prstGeom>
          <a:noFill/>
          <a:ln/>
        </p:spPr>
        <p:txBody>
          <a:bodyPr wrap="none" lIns="0" tIns="0" rIns="0" bIns="0" rtlCol="0" anchor="t"/>
          <a:lstStyle/>
          <a:p>
            <a:pPr algn="l" marL="342900" indent="-342900">
              <a:lnSpc>
                <a:spcPts val="1900"/>
              </a:lnSpc>
              <a:buSzPct val="100000"/>
              <a:buChar char="•"/>
            </a:pPr>
            <a:r>
              <a:rPr lang="en-US" sz="1200" b="1" dirty="0">
                <a:solidFill>
                  <a:srgbClr val="8F8F8F"/>
                </a:solidFill>
                <a:latin typeface="Funnel Sans" pitchFamily="34" charset="0"/>
                <a:ea typeface="Funnel Sans" pitchFamily="34" charset="-122"/>
                <a:cs typeface="Funnel Sans" pitchFamily="34" charset="-120"/>
              </a:rPr>
              <a:t>oldpeak:</a:t>
            </a:r>
            <a:pPr algn="l" indent="0" marL="0">
              <a:lnSpc>
                <a:spcPts val="1900"/>
              </a:lnSpc>
              <a:buNone/>
            </a:pPr>
            <a:r>
              <a:rPr lang="en-US" sz="1200" dirty="0">
                <a:solidFill>
                  <a:srgbClr val="8F8F8F"/>
                </a:solidFill>
                <a:latin typeface="Funnel Sans" pitchFamily="34" charset="0"/>
                <a:ea typeface="Funnel Sans" pitchFamily="34" charset="-122"/>
                <a:cs typeface="Funnel Sans" pitchFamily="34" charset="-120"/>
              </a:rPr>
              <a:t> -0.431</a:t>
            </a:r>
            <a:endParaRPr lang="en-US" sz="1200" dirty="0"/>
          </a:p>
        </p:txBody>
      </p:sp>
      <p:sp>
        <p:nvSpPr>
          <p:cNvPr id="9" name="Text 7"/>
          <p:cNvSpPr/>
          <p:nvPr/>
        </p:nvSpPr>
        <p:spPr>
          <a:xfrm>
            <a:off x="614005" y="3175040"/>
            <a:ext cx="5136118" cy="245507"/>
          </a:xfrm>
          <a:prstGeom prst="rect">
            <a:avLst/>
          </a:prstGeom>
          <a:noFill/>
          <a:ln/>
        </p:spPr>
        <p:txBody>
          <a:bodyPr wrap="none" lIns="0" tIns="0" rIns="0" bIns="0" rtlCol="0" anchor="t"/>
          <a:lstStyle/>
          <a:p>
            <a:pPr algn="l" marL="342900" indent="-342900">
              <a:lnSpc>
                <a:spcPts val="1900"/>
              </a:lnSpc>
              <a:buSzPct val="100000"/>
              <a:buChar char="•"/>
            </a:pPr>
            <a:r>
              <a:rPr lang="en-US" sz="1200" b="1" dirty="0">
                <a:solidFill>
                  <a:srgbClr val="8F8F8F"/>
                </a:solidFill>
                <a:latin typeface="Funnel Sans" pitchFamily="34" charset="0"/>
                <a:ea typeface="Funnel Sans" pitchFamily="34" charset="-122"/>
                <a:cs typeface="Funnel Sans" pitchFamily="34" charset="-120"/>
              </a:rPr>
              <a:t>ca (vessels):</a:t>
            </a:r>
            <a:pPr algn="l" indent="0" marL="0">
              <a:lnSpc>
                <a:spcPts val="1900"/>
              </a:lnSpc>
              <a:buNone/>
            </a:pPr>
            <a:r>
              <a:rPr lang="en-US" sz="1200" dirty="0">
                <a:solidFill>
                  <a:srgbClr val="8F8F8F"/>
                </a:solidFill>
                <a:latin typeface="Funnel Sans" pitchFamily="34" charset="0"/>
                <a:ea typeface="Funnel Sans" pitchFamily="34" charset="-122"/>
                <a:cs typeface="Funnel Sans" pitchFamily="34" charset="-120"/>
              </a:rPr>
              <a:t> -0.392</a:t>
            </a:r>
            <a:endParaRPr lang="en-US" sz="1200" dirty="0"/>
          </a:p>
        </p:txBody>
      </p:sp>
      <p:sp>
        <p:nvSpPr>
          <p:cNvPr id="10" name="Text 8"/>
          <p:cNvSpPr/>
          <p:nvPr/>
        </p:nvSpPr>
        <p:spPr>
          <a:xfrm>
            <a:off x="614005" y="3574018"/>
            <a:ext cx="1919049" cy="239911"/>
          </a:xfrm>
          <a:prstGeom prst="rect">
            <a:avLst/>
          </a:prstGeom>
          <a:noFill/>
          <a:ln/>
        </p:spPr>
        <p:txBody>
          <a:bodyPr wrap="none" lIns="0" tIns="0" rIns="0" bIns="0" rtlCol="0" anchor="t"/>
          <a:lstStyle/>
          <a:p>
            <a:pPr algn="l" indent="0" marL="0">
              <a:lnSpc>
                <a:spcPts val="1850"/>
              </a:lnSpc>
              <a:buNone/>
            </a:pPr>
            <a:r>
              <a:rPr lang="en-US" sz="1500" dirty="0">
                <a:solidFill>
                  <a:srgbClr val="DDDDDD"/>
                </a:solidFill>
                <a:latin typeface="Mona Sans Semi Bold" pitchFamily="34" charset="0"/>
                <a:ea typeface="Mona Sans Semi Bold" pitchFamily="34" charset="-122"/>
                <a:cs typeface="Mona Sans Semi Bold" pitchFamily="34" charset="-120"/>
              </a:rPr>
              <a:t>Features Removed</a:t>
            </a:r>
            <a:endParaRPr lang="en-US" sz="1500" dirty="0"/>
          </a:p>
        </p:txBody>
      </p:sp>
      <p:sp>
        <p:nvSpPr>
          <p:cNvPr id="11" name="Text 9"/>
          <p:cNvSpPr/>
          <p:nvPr/>
        </p:nvSpPr>
        <p:spPr>
          <a:xfrm>
            <a:off x="614005" y="3967401"/>
            <a:ext cx="5136118" cy="736521"/>
          </a:xfrm>
          <a:prstGeom prst="rect">
            <a:avLst/>
          </a:prstGeom>
          <a:noFill/>
          <a:ln/>
        </p:spPr>
        <p:txBody>
          <a:bodyPr wrap="square" lIns="0" tIns="0" rIns="0" bIns="0" rtlCol="0" anchor="t"/>
          <a:lstStyle/>
          <a:p>
            <a:pPr algn="l" indent="0" marL="0">
              <a:lnSpc>
                <a:spcPts val="1900"/>
              </a:lnSpc>
              <a:buNone/>
            </a:pPr>
            <a:r>
              <a:rPr lang="en-US" sz="1200" dirty="0">
                <a:solidFill>
                  <a:srgbClr val="8F8F8F"/>
                </a:solidFill>
                <a:latin typeface="Funnel Sans" pitchFamily="34" charset="0"/>
                <a:ea typeface="Funnel Sans" pitchFamily="34" charset="-122"/>
                <a:cs typeface="Funnel Sans" pitchFamily="34" charset="-120"/>
              </a:rPr>
              <a:t>Based on correlation analysis, </a:t>
            </a:r>
            <a:pPr algn="l" indent="0" marL="0">
              <a:lnSpc>
                <a:spcPts val="1900"/>
              </a:lnSpc>
              <a:buNone/>
            </a:pPr>
            <a:r>
              <a:rPr lang="en-US" sz="1200" b="1" dirty="0">
                <a:solidFill>
                  <a:srgbClr val="8F8F8F"/>
                </a:solidFill>
                <a:latin typeface="Funnel Sans" pitchFamily="34" charset="0"/>
                <a:ea typeface="Funnel Sans" pitchFamily="34" charset="-122"/>
                <a:cs typeface="Funnel Sans" pitchFamily="34" charset="-120"/>
              </a:rPr>
              <a:t>fbs (fasting blood sugar)</a:t>
            </a:r>
            <a:pPr algn="l" indent="0" marL="0">
              <a:lnSpc>
                <a:spcPts val="1900"/>
              </a:lnSpc>
              <a:buNone/>
            </a:pPr>
            <a:r>
              <a:rPr lang="en-US" sz="1200" dirty="0">
                <a:solidFill>
                  <a:srgbClr val="8F8F8F"/>
                </a:solidFill>
                <a:latin typeface="Funnel Sans" pitchFamily="34" charset="0"/>
                <a:ea typeface="Funnel Sans" pitchFamily="34" charset="-122"/>
                <a:cs typeface="Funnel Sans" pitchFamily="34" charset="-120"/>
              </a:rPr>
              <a:t> and </a:t>
            </a:r>
            <a:pPr algn="l" indent="0" marL="0">
              <a:lnSpc>
                <a:spcPts val="1900"/>
              </a:lnSpc>
              <a:buNone/>
            </a:pPr>
            <a:r>
              <a:rPr lang="en-US" sz="1200" b="1" dirty="0">
                <a:solidFill>
                  <a:srgbClr val="8F8F8F"/>
                </a:solidFill>
                <a:latin typeface="Funnel Sans" pitchFamily="34" charset="0"/>
                <a:ea typeface="Funnel Sans" pitchFamily="34" charset="-122"/>
                <a:cs typeface="Funnel Sans" pitchFamily="34" charset="-120"/>
              </a:rPr>
              <a:t>chol (cholesterol)</a:t>
            </a:r>
            <a:pPr algn="l" indent="0" marL="0">
              <a:lnSpc>
                <a:spcPts val="1900"/>
              </a:lnSpc>
              <a:buNone/>
            </a:pPr>
            <a:r>
              <a:rPr lang="en-US" sz="1200" dirty="0">
                <a:solidFill>
                  <a:srgbClr val="8F8F8F"/>
                </a:solidFill>
                <a:latin typeface="Funnel Sans" pitchFamily="34" charset="0"/>
                <a:ea typeface="Funnel Sans" pitchFamily="34" charset="-122"/>
                <a:cs typeface="Funnel Sans" pitchFamily="34" charset="-120"/>
              </a:rPr>
              <a:t> were eliminated due to low correlation with the target variable (-0.028 and -0.085 respectively).</a:t>
            </a:r>
            <a:endParaRPr lang="en-US" sz="1200" dirty="0"/>
          </a:p>
        </p:txBody>
      </p:sp>
      <p:pic>
        <p:nvPicPr>
          <p:cNvPr id="12" name="Image 0" descr="preencoded.png">    </p:cNvPr>
          <p:cNvPicPr>
            <a:picLocks noChangeAspect="1"/>
          </p:cNvPicPr>
          <p:nvPr/>
        </p:nvPicPr>
        <p:blipFill>
          <a:blip r:embed="rId1"/>
          <a:stretch>
            <a:fillRect/>
          </a:stretch>
        </p:blipFill>
        <p:spPr>
          <a:xfrm>
            <a:off x="6132314" y="1304806"/>
            <a:ext cx="5526762" cy="5998607"/>
          </a:xfrm>
          <a:prstGeom prst="rect">
            <a:avLst/>
          </a:prstGeom>
        </p:spPr>
      </p:pic>
      <p:sp>
        <p:nvSpPr>
          <p:cNvPr id="13" name="Text 10"/>
          <p:cNvSpPr/>
          <p:nvPr/>
        </p:nvSpPr>
        <p:spPr>
          <a:xfrm>
            <a:off x="6132314" y="7476053"/>
            <a:ext cx="7891582" cy="196572"/>
          </a:xfrm>
          <a:prstGeom prst="rect">
            <a:avLst/>
          </a:prstGeom>
          <a:noFill/>
          <a:ln/>
        </p:spPr>
        <p:txBody>
          <a:bodyPr wrap="none" lIns="0" tIns="0" rIns="0" bIns="0" rtlCol="0" anchor="t"/>
          <a:lstStyle/>
          <a:p>
            <a:pPr algn="l" indent="0" marL="0">
              <a:lnSpc>
                <a:spcPts val="1500"/>
              </a:lnSpc>
              <a:buNone/>
            </a:pPr>
            <a:r>
              <a:rPr lang="en-US" sz="950" dirty="0">
                <a:solidFill>
                  <a:srgbClr val="8F8F8F"/>
                </a:solidFill>
                <a:latin typeface="Funnel Sans" pitchFamily="34" charset="0"/>
                <a:ea typeface="Funnel Sans" pitchFamily="34" charset="-122"/>
                <a:cs typeface="Funnel Sans" pitchFamily="34" charset="-120"/>
              </a:rPr>
              <a:t>Correlation heatmap showing relationships between features and target variable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47556" y="394454"/>
            <a:ext cx="3206234" cy="349687"/>
          </a:xfrm>
          <a:prstGeom prst="rect">
            <a:avLst/>
          </a:prstGeom>
          <a:noFill/>
          <a:ln/>
        </p:spPr>
        <p:txBody>
          <a:bodyPr wrap="none" lIns="0" tIns="0" rIns="0" bIns="0" rtlCol="0" anchor="t"/>
          <a:lstStyle/>
          <a:p>
            <a:pPr algn="l" indent="0" marL="0">
              <a:lnSpc>
                <a:spcPts val="2750"/>
              </a:lnSpc>
              <a:buNone/>
            </a:pPr>
            <a:r>
              <a:rPr lang="en-US" sz="2200" dirty="0">
                <a:solidFill>
                  <a:srgbClr val="DDDDDD"/>
                </a:solidFill>
                <a:latin typeface="Mona Sans Semi Bold" pitchFamily="34" charset="0"/>
                <a:ea typeface="Mona Sans Semi Bold" pitchFamily="34" charset="-122"/>
                <a:cs typeface="Mona Sans Semi Bold" pitchFamily="34" charset="-120"/>
              </a:rPr>
              <a:t>Visual Data Exploration</a:t>
            </a:r>
            <a:endParaRPr lang="en-US" sz="2200" dirty="0"/>
          </a:p>
        </p:txBody>
      </p:sp>
      <p:sp>
        <p:nvSpPr>
          <p:cNvPr id="3" name="Text 1"/>
          <p:cNvSpPr/>
          <p:nvPr/>
        </p:nvSpPr>
        <p:spPr>
          <a:xfrm>
            <a:off x="447556" y="967859"/>
            <a:ext cx="13735288" cy="179070"/>
          </a:xfrm>
          <a:prstGeom prst="rect">
            <a:avLst/>
          </a:prstGeom>
          <a:noFill/>
          <a:ln/>
        </p:spPr>
        <p:txBody>
          <a:bodyPr wrap="none" lIns="0" tIns="0" rIns="0" bIns="0" rtlCol="0" anchor="t"/>
          <a:lstStyle/>
          <a:p>
            <a:pPr algn="l" indent="0" marL="0">
              <a:lnSpc>
                <a:spcPts val="1400"/>
              </a:lnSpc>
              <a:buNone/>
            </a:pPr>
            <a:r>
              <a:rPr lang="en-US" sz="850" dirty="0">
                <a:solidFill>
                  <a:srgbClr val="8F8F8F"/>
                </a:solidFill>
                <a:latin typeface="Funnel Sans" pitchFamily="34" charset="0"/>
                <a:ea typeface="Funnel Sans" pitchFamily="34" charset="-122"/>
                <a:cs typeface="Funnel Sans" pitchFamily="34" charset="-120"/>
              </a:rPr>
              <a:t>Comprehensive pairplot analysis revealed important patterns and relationships within the dataset. The visualizations were split into two groups to maintain clarity and readability.</a:t>
            </a:r>
            <a:endParaRPr lang="en-US" sz="850" dirty="0"/>
          </a:p>
        </p:txBody>
      </p:sp>
      <p:pic>
        <p:nvPicPr>
          <p:cNvPr id="4" name="Image 0" descr="preencoded.png">    </p:cNvPr>
          <p:cNvPicPr>
            <a:picLocks noChangeAspect="1"/>
          </p:cNvPicPr>
          <p:nvPr/>
        </p:nvPicPr>
        <p:blipFill>
          <a:blip r:embed="rId1"/>
          <a:stretch>
            <a:fillRect/>
          </a:stretch>
        </p:blipFill>
        <p:spPr>
          <a:xfrm>
            <a:off x="5927527" y="1348740"/>
            <a:ext cx="1342906" cy="1342906"/>
          </a:xfrm>
          <a:prstGeom prst="rect">
            <a:avLst/>
          </a:prstGeom>
        </p:spPr>
      </p:pic>
      <p:pic>
        <p:nvPicPr>
          <p:cNvPr id="5" name="Image 1" descr="preencoded.png">    </p:cNvPr>
          <p:cNvPicPr>
            <a:picLocks noChangeAspect="1"/>
          </p:cNvPicPr>
          <p:nvPr/>
        </p:nvPicPr>
        <p:blipFill>
          <a:blip r:embed="rId2"/>
          <a:stretch>
            <a:fillRect/>
          </a:stretch>
        </p:blipFill>
        <p:spPr>
          <a:xfrm>
            <a:off x="7359848" y="1348740"/>
            <a:ext cx="1342906" cy="1342906"/>
          </a:xfrm>
          <a:prstGeom prst="rect">
            <a:avLst/>
          </a:prstGeom>
        </p:spPr>
      </p:pic>
      <p:sp>
        <p:nvSpPr>
          <p:cNvPr id="6" name="Shape 2"/>
          <p:cNvSpPr/>
          <p:nvPr/>
        </p:nvSpPr>
        <p:spPr>
          <a:xfrm>
            <a:off x="447556" y="2893457"/>
            <a:ext cx="6811685" cy="854035"/>
          </a:xfrm>
          <a:prstGeom prst="roundRect">
            <a:avLst>
              <a:gd name="adj" fmla="val 5504"/>
            </a:avLst>
          </a:prstGeom>
          <a:solidFill>
            <a:srgbClr val="181616">
              <a:alpha val="95000"/>
            </a:srgbClr>
          </a:solidFill>
          <a:ln w="15240">
            <a:solidFill>
              <a:srgbClr val="595959"/>
            </a:solidFill>
            <a:prstDash val="solid"/>
          </a:ln>
        </p:spPr>
      </p:sp>
      <p:sp>
        <p:nvSpPr>
          <p:cNvPr id="7" name="Text 3"/>
          <p:cNvSpPr/>
          <p:nvPr/>
        </p:nvSpPr>
        <p:spPr>
          <a:xfrm>
            <a:off x="574596" y="3020497"/>
            <a:ext cx="1417082" cy="174784"/>
          </a:xfrm>
          <a:prstGeom prst="rect">
            <a:avLst/>
          </a:prstGeom>
          <a:noFill/>
          <a:ln/>
        </p:spPr>
        <p:txBody>
          <a:bodyPr wrap="none" lIns="0" tIns="0" rIns="0" bIns="0" rtlCol="0" anchor="t"/>
          <a:lstStyle/>
          <a:p>
            <a:pPr algn="l" indent="0" marL="0">
              <a:lnSpc>
                <a:spcPts val="1350"/>
              </a:lnSpc>
              <a:buNone/>
            </a:pPr>
            <a:r>
              <a:rPr lang="en-US" sz="1100" dirty="0">
                <a:solidFill>
                  <a:srgbClr val="8F8F8F"/>
                </a:solidFill>
                <a:latin typeface="Mona Sans Semi Bold" pitchFamily="34" charset="0"/>
                <a:ea typeface="Mona Sans Semi Bold" pitchFamily="34" charset="-122"/>
                <a:cs typeface="Mona Sans Semi Bold" pitchFamily="34" charset="-120"/>
              </a:rPr>
              <a:t>Data Transformation</a:t>
            </a:r>
            <a:endParaRPr lang="en-US" sz="1100" dirty="0"/>
          </a:p>
        </p:txBody>
      </p:sp>
      <p:sp>
        <p:nvSpPr>
          <p:cNvPr id="8" name="Text 4"/>
          <p:cNvSpPr/>
          <p:nvPr/>
        </p:nvSpPr>
        <p:spPr>
          <a:xfrm>
            <a:off x="574596" y="3262313"/>
            <a:ext cx="6557605" cy="358140"/>
          </a:xfrm>
          <a:prstGeom prst="rect">
            <a:avLst/>
          </a:prstGeom>
          <a:noFill/>
          <a:ln/>
        </p:spPr>
        <p:txBody>
          <a:bodyPr wrap="square" lIns="0" tIns="0" rIns="0" bIns="0" rtlCol="0" anchor="t"/>
          <a:lstStyle/>
          <a:p>
            <a:pPr algn="l" indent="0" marL="0">
              <a:lnSpc>
                <a:spcPts val="1400"/>
              </a:lnSpc>
              <a:buNone/>
            </a:pPr>
            <a:r>
              <a:rPr lang="en-US" sz="850" dirty="0">
                <a:solidFill>
                  <a:srgbClr val="8F8F8F"/>
                </a:solidFill>
                <a:latin typeface="Funnel Sans" pitchFamily="34" charset="0"/>
                <a:ea typeface="Funnel Sans" pitchFamily="34" charset="-122"/>
                <a:cs typeface="Funnel Sans" pitchFamily="34" charset="-120"/>
              </a:rPr>
              <a:t>Logarithmic transformation was applied to columns 5 (thalach) and 7 (oldpeak) to normalize their distributions and improve model performance. This transformation helps handle skewed data and reduces the impact of outliers.</a:t>
            </a:r>
            <a:endParaRPr lang="en-US" sz="850" dirty="0"/>
          </a:p>
        </p:txBody>
      </p:sp>
      <p:sp>
        <p:nvSpPr>
          <p:cNvPr id="9" name="Shape 5"/>
          <p:cNvSpPr/>
          <p:nvPr/>
        </p:nvSpPr>
        <p:spPr>
          <a:xfrm>
            <a:off x="7371040" y="2893457"/>
            <a:ext cx="6811804" cy="854035"/>
          </a:xfrm>
          <a:prstGeom prst="roundRect">
            <a:avLst>
              <a:gd name="adj" fmla="val 5504"/>
            </a:avLst>
          </a:prstGeom>
          <a:solidFill>
            <a:srgbClr val="181616">
              <a:alpha val="95000"/>
            </a:srgbClr>
          </a:solidFill>
          <a:ln w="15240">
            <a:solidFill>
              <a:srgbClr val="595959"/>
            </a:solidFill>
            <a:prstDash val="solid"/>
          </a:ln>
        </p:spPr>
      </p:sp>
      <p:sp>
        <p:nvSpPr>
          <p:cNvPr id="10" name="Text 6"/>
          <p:cNvSpPr/>
          <p:nvPr/>
        </p:nvSpPr>
        <p:spPr>
          <a:xfrm>
            <a:off x="7498080" y="3020497"/>
            <a:ext cx="1928455" cy="174784"/>
          </a:xfrm>
          <a:prstGeom prst="rect">
            <a:avLst/>
          </a:prstGeom>
          <a:noFill/>
          <a:ln/>
        </p:spPr>
        <p:txBody>
          <a:bodyPr wrap="none" lIns="0" tIns="0" rIns="0" bIns="0" rtlCol="0" anchor="t"/>
          <a:lstStyle/>
          <a:p>
            <a:pPr algn="l" indent="0" marL="0">
              <a:lnSpc>
                <a:spcPts val="1350"/>
              </a:lnSpc>
              <a:buNone/>
            </a:pPr>
            <a:r>
              <a:rPr lang="en-US" sz="1100" dirty="0">
                <a:solidFill>
                  <a:srgbClr val="8F8F8F"/>
                </a:solidFill>
                <a:latin typeface="Mona Sans Semi Bold" pitchFamily="34" charset="0"/>
                <a:ea typeface="Mona Sans Semi Bold" pitchFamily="34" charset="-122"/>
                <a:cs typeface="Mona Sans Semi Bold" pitchFamily="34" charset="-120"/>
              </a:rPr>
              <a:t>Post-Transformation Results</a:t>
            </a:r>
            <a:endParaRPr lang="en-US" sz="1100" dirty="0"/>
          </a:p>
        </p:txBody>
      </p:sp>
      <p:sp>
        <p:nvSpPr>
          <p:cNvPr id="11" name="Text 7"/>
          <p:cNvSpPr/>
          <p:nvPr/>
        </p:nvSpPr>
        <p:spPr>
          <a:xfrm>
            <a:off x="7498080" y="3262313"/>
            <a:ext cx="6557724" cy="358140"/>
          </a:xfrm>
          <a:prstGeom prst="rect">
            <a:avLst/>
          </a:prstGeom>
          <a:noFill/>
          <a:ln/>
        </p:spPr>
        <p:txBody>
          <a:bodyPr wrap="square" lIns="0" tIns="0" rIns="0" bIns="0" rtlCol="0" anchor="t"/>
          <a:lstStyle/>
          <a:p>
            <a:pPr algn="l" indent="0" marL="0">
              <a:lnSpc>
                <a:spcPts val="1400"/>
              </a:lnSpc>
              <a:buNone/>
            </a:pPr>
            <a:r>
              <a:rPr lang="en-US" sz="850" dirty="0">
                <a:solidFill>
                  <a:srgbClr val="8F8F8F"/>
                </a:solidFill>
                <a:latin typeface="Funnel Sans" pitchFamily="34" charset="0"/>
                <a:ea typeface="Funnel Sans" pitchFamily="34" charset="-122"/>
                <a:cs typeface="Funnel Sans" pitchFamily="34" charset="-120"/>
              </a:rPr>
              <a:t>After applying log transformation, the distributions became more normalized, making them more suitable for machine learning algorithms that assume normally distributed features.</a:t>
            </a:r>
            <a:endParaRPr lang="en-US" sz="850" dirty="0"/>
          </a:p>
        </p:txBody>
      </p:sp>
      <p:pic>
        <p:nvPicPr>
          <p:cNvPr id="12" name="Image 2" descr="preencoded.png">    </p:cNvPr>
          <p:cNvPicPr>
            <a:picLocks noChangeAspect="1"/>
          </p:cNvPicPr>
          <p:nvPr/>
        </p:nvPicPr>
        <p:blipFill>
          <a:blip r:embed="rId3"/>
          <a:stretch>
            <a:fillRect/>
          </a:stretch>
        </p:blipFill>
        <p:spPr>
          <a:xfrm>
            <a:off x="447556" y="3873341"/>
            <a:ext cx="4028837" cy="39616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1968" y="345043"/>
            <a:ext cx="5521762" cy="392073"/>
          </a:xfrm>
          <a:prstGeom prst="rect">
            <a:avLst/>
          </a:prstGeom>
          <a:noFill/>
          <a:ln/>
        </p:spPr>
        <p:txBody>
          <a:bodyPr wrap="none" lIns="0" tIns="0" rIns="0" bIns="0" rtlCol="0" anchor="t"/>
          <a:lstStyle/>
          <a:p>
            <a:pPr algn="l" indent="0" marL="0">
              <a:lnSpc>
                <a:spcPts val="3050"/>
              </a:lnSpc>
              <a:buNone/>
            </a:pPr>
            <a:r>
              <a:rPr lang="en-US" sz="2450" dirty="0">
                <a:solidFill>
                  <a:srgbClr val="DDDDDD"/>
                </a:solidFill>
                <a:latin typeface="Mona Sans Semi Bold" pitchFamily="34" charset="0"/>
                <a:ea typeface="Mona Sans Semi Bold" pitchFamily="34" charset="-122"/>
                <a:cs typeface="Mona Sans Semi Bold" pitchFamily="34" charset="-120"/>
              </a:rPr>
              <a:t>Model Preparation and Training Split</a:t>
            </a:r>
            <a:endParaRPr lang="en-US" sz="2450" dirty="0"/>
          </a:p>
        </p:txBody>
      </p:sp>
      <p:sp>
        <p:nvSpPr>
          <p:cNvPr id="3" name="Text 1"/>
          <p:cNvSpPr/>
          <p:nvPr/>
        </p:nvSpPr>
        <p:spPr>
          <a:xfrm>
            <a:off x="501968" y="988100"/>
            <a:ext cx="125492" cy="156805"/>
          </a:xfrm>
          <a:prstGeom prst="rect">
            <a:avLst/>
          </a:prstGeom>
          <a:noFill/>
          <a:ln/>
        </p:spPr>
        <p:txBody>
          <a:bodyPr wrap="none" lIns="0" tIns="0" rIns="0" bIns="0" rtlCol="0" anchor="t"/>
          <a:lstStyle/>
          <a:p>
            <a:pPr algn="l" indent="0" marL="0">
              <a:lnSpc>
                <a:spcPts val="1550"/>
              </a:lnSpc>
              <a:buNone/>
            </a:pPr>
            <a:r>
              <a:rPr lang="en-US" sz="950" dirty="0">
                <a:solidFill>
                  <a:srgbClr val="8F8F8F"/>
                </a:solidFill>
                <a:latin typeface="Mona Sans Light" pitchFamily="34" charset="0"/>
                <a:ea typeface="Mona Sans Light" pitchFamily="34" charset="-122"/>
                <a:cs typeface="Mona Sans Light" pitchFamily="34" charset="-120"/>
              </a:rPr>
              <a:t>01</a:t>
            </a:r>
            <a:endParaRPr lang="en-US" sz="950" dirty="0"/>
          </a:p>
        </p:txBody>
      </p:sp>
      <p:sp>
        <p:nvSpPr>
          <p:cNvPr id="4" name="Shape 2"/>
          <p:cNvSpPr/>
          <p:nvPr/>
        </p:nvSpPr>
        <p:spPr>
          <a:xfrm>
            <a:off x="501968" y="1185982"/>
            <a:ext cx="4458414" cy="15240"/>
          </a:xfrm>
          <a:prstGeom prst="rect">
            <a:avLst/>
          </a:prstGeom>
          <a:solidFill>
            <a:srgbClr val="FFFFFF"/>
          </a:solidFill>
          <a:ln/>
        </p:spPr>
      </p:sp>
      <p:sp>
        <p:nvSpPr>
          <p:cNvPr id="5" name="Text 3"/>
          <p:cNvSpPr/>
          <p:nvPr/>
        </p:nvSpPr>
        <p:spPr>
          <a:xfrm>
            <a:off x="501968" y="1279208"/>
            <a:ext cx="1999774" cy="196096"/>
          </a:xfrm>
          <a:prstGeom prst="rect">
            <a:avLst/>
          </a:prstGeom>
          <a:noFill/>
          <a:ln/>
        </p:spPr>
        <p:txBody>
          <a:bodyPr wrap="none" lIns="0" tIns="0" rIns="0" bIns="0" rtlCol="0" anchor="t"/>
          <a:lstStyle/>
          <a:p>
            <a:pPr algn="l" indent="0" marL="0">
              <a:lnSpc>
                <a:spcPts val="1500"/>
              </a:lnSpc>
              <a:buNone/>
            </a:pPr>
            <a:r>
              <a:rPr lang="en-US" sz="1200" dirty="0">
                <a:solidFill>
                  <a:srgbClr val="8F8F8F"/>
                </a:solidFill>
                <a:latin typeface="Mona Sans Semi Bold" pitchFamily="34" charset="0"/>
                <a:ea typeface="Mona Sans Semi Bold" pitchFamily="34" charset="-122"/>
                <a:cs typeface="Mona Sans Semi Bold" pitchFamily="34" charset="-120"/>
              </a:rPr>
              <a:t>Feature-Target Separation</a:t>
            </a:r>
            <a:endParaRPr lang="en-US" sz="1200" dirty="0"/>
          </a:p>
        </p:txBody>
      </p:sp>
      <p:sp>
        <p:nvSpPr>
          <p:cNvPr id="6" name="Text 4"/>
          <p:cNvSpPr/>
          <p:nvPr/>
        </p:nvSpPr>
        <p:spPr>
          <a:xfrm>
            <a:off x="501968" y="1550551"/>
            <a:ext cx="4458414" cy="602218"/>
          </a:xfrm>
          <a:prstGeom prst="rect">
            <a:avLst/>
          </a:prstGeom>
          <a:noFill/>
          <a:ln/>
        </p:spPr>
        <p:txBody>
          <a:bodyPr wrap="square" lIns="0" tIns="0" rIns="0" bIns="0" rtlCol="0" anchor="t"/>
          <a:lstStyle/>
          <a:p>
            <a:pPr algn="l" indent="0" marL="0">
              <a:lnSpc>
                <a:spcPts val="1550"/>
              </a:lnSpc>
              <a:buNone/>
            </a:pPr>
            <a:r>
              <a:rPr lang="en-US" sz="950" dirty="0">
                <a:solidFill>
                  <a:srgbClr val="8F8F8F"/>
                </a:solidFill>
                <a:latin typeface="Funnel Sans" pitchFamily="34" charset="0"/>
                <a:ea typeface="Funnel Sans" pitchFamily="34" charset="-122"/>
                <a:cs typeface="Funnel Sans" pitchFamily="34" charset="-120"/>
              </a:rPr>
              <a:t>Independent variables (X) were separated from the target variable (y) to prepare for supervised learning. The target column indicates presence or absence of heart disease.</a:t>
            </a:r>
            <a:endParaRPr lang="en-US" sz="950" dirty="0"/>
          </a:p>
        </p:txBody>
      </p:sp>
      <p:sp>
        <p:nvSpPr>
          <p:cNvPr id="7" name="Text 5"/>
          <p:cNvSpPr/>
          <p:nvPr/>
        </p:nvSpPr>
        <p:spPr>
          <a:xfrm>
            <a:off x="5085874" y="988100"/>
            <a:ext cx="125492" cy="156805"/>
          </a:xfrm>
          <a:prstGeom prst="rect">
            <a:avLst/>
          </a:prstGeom>
          <a:noFill/>
          <a:ln/>
        </p:spPr>
        <p:txBody>
          <a:bodyPr wrap="none" lIns="0" tIns="0" rIns="0" bIns="0" rtlCol="0" anchor="t"/>
          <a:lstStyle/>
          <a:p>
            <a:pPr algn="l" indent="0" marL="0">
              <a:lnSpc>
                <a:spcPts val="1550"/>
              </a:lnSpc>
              <a:buNone/>
            </a:pPr>
            <a:r>
              <a:rPr lang="en-US" sz="950" dirty="0">
                <a:solidFill>
                  <a:srgbClr val="8F8F8F"/>
                </a:solidFill>
                <a:latin typeface="Mona Sans Light" pitchFamily="34" charset="0"/>
                <a:ea typeface="Mona Sans Light" pitchFamily="34" charset="-122"/>
                <a:cs typeface="Mona Sans Light" pitchFamily="34" charset="-120"/>
              </a:rPr>
              <a:t>02</a:t>
            </a:r>
            <a:endParaRPr lang="en-US" sz="950" dirty="0"/>
          </a:p>
        </p:txBody>
      </p:sp>
      <p:sp>
        <p:nvSpPr>
          <p:cNvPr id="8" name="Shape 6"/>
          <p:cNvSpPr/>
          <p:nvPr/>
        </p:nvSpPr>
        <p:spPr>
          <a:xfrm>
            <a:off x="5085874" y="1185982"/>
            <a:ext cx="4458533" cy="15240"/>
          </a:xfrm>
          <a:prstGeom prst="rect">
            <a:avLst/>
          </a:prstGeom>
          <a:solidFill>
            <a:srgbClr val="FFFFFF"/>
          </a:solidFill>
          <a:ln/>
        </p:spPr>
      </p:sp>
      <p:sp>
        <p:nvSpPr>
          <p:cNvPr id="9" name="Text 7"/>
          <p:cNvSpPr/>
          <p:nvPr/>
        </p:nvSpPr>
        <p:spPr>
          <a:xfrm>
            <a:off x="5085874" y="1279208"/>
            <a:ext cx="1568768" cy="196096"/>
          </a:xfrm>
          <a:prstGeom prst="rect">
            <a:avLst/>
          </a:prstGeom>
          <a:noFill/>
          <a:ln/>
        </p:spPr>
        <p:txBody>
          <a:bodyPr wrap="none" lIns="0" tIns="0" rIns="0" bIns="0" rtlCol="0" anchor="t"/>
          <a:lstStyle/>
          <a:p>
            <a:pPr algn="l" indent="0" marL="0">
              <a:lnSpc>
                <a:spcPts val="1500"/>
              </a:lnSpc>
              <a:buNone/>
            </a:pPr>
            <a:r>
              <a:rPr lang="en-US" sz="1200" dirty="0">
                <a:solidFill>
                  <a:srgbClr val="8F8F8F"/>
                </a:solidFill>
                <a:latin typeface="Mona Sans Semi Bold" pitchFamily="34" charset="0"/>
                <a:ea typeface="Mona Sans Semi Bold" pitchFamily="34" charset="-122"/>
                <a:cs typeface="Mona Sans Semi Bold" pitchFamily="34" charset="-120"/>
              </a:rPr>
              <a:t>Train-Test Split</a:t>
            </a:r>
            <a:endParaRPr lang="en-US" sz="1200" dirty="0"/>
          </a:p>
        </p:txBody>
      </p:sp>
      <p:sp>
        <p:nvSpPr>
          <p:cNvPr id="10" name="Text 8"/>
          <p:cNvSpPr/>
          <p:nvPr/>
        </p:nvSpPr>
        <p:spPr>
          <a:xfrm>
            <a:off x="5085874" y="1550551"/>
            <a:ext cx="4458533" cy="401479"/>
          </a:xfrm>
          <a:prstGeom prst="rect">
            <a:avLst/>
          </a:prstGeom>
          <a:noFill/>
          <a:ln/>
        </p:spPr>
        <p:txBody>
          <a:bodyPr wrap="square" lIns="0" tIns="0" rIns="0" bIns="0" rtlCol="0" anchor="t"/>
          <a:lstStyle/>
          <a:p>
            <a:pPr algn="l" indent="0" marL="0">
              <a:lnSpc>
                <a:spcPts val="1550"/>
              </a:lnSpc>
              <a:buNone/>
            </a:pPr>
            <a:r>
              <a:rPr lang="en-US" sz="950" dirty="0">
                <a:solidFill>
                  <a:srgbClr val="8F8F8F"/>
                </a:solidFill>
                <a:latin typeface="Funnel Sans" pitchFamily="34" charset="0"/>
                <a:ea typeface="Funnel Sans" pitchFamily="34" charset="-122"/>
                <a:cs typeface="Funnel Sans" pitchFamily="34" charset="-120"/>
              </a:rPr>
              <a:t>Dataset divided into 70% training (212 samples) and 30% testing (91 samples) using stratified sampling with random_state=1234 for reproducibility.</a:t>
            </a:r>
            <a:endParaRPr lang="en-US" sz="950" dirty="0"/>
          </a:p>
        </p:txBody>
      </p:sp>
      <p:sp>
        <p:nvSpPr>
          <p:cNvPr id="11" name="Text 9"/>
          <p:cNvSpPr/>
          <p:nvPr/>
        </p:nvSpPr>
        <p:spPr>
          <a:xfrm>
            <a:off x="9669899" y="988100"/>
            <a:ext cx="125492" cy="156805"/>
          </a:xfrm>
          <a:prstGeom prst="rect">
            <a:avLst/>
          </a:prstGeom>
          <a:noFill/>
          <a:ln/>
        </p:spPr>
        <p:txBody>
          <a:bodyPr wrap="none" lIns="0" tIns="0" rIns="0" bIns="0" rtlCol="0" anchor="t"/>
          <a:lstStyle/>
          <a:p>
            <a:pPr algn="l" indent="0" marL="0">
              <a:lnSpc>
                <a:spcPts val="1550"/>
              </a:lnSpc>
              <a:buNone/>
            </a:pPr>
            <a:r>
              <a:rPr lang="en-US" sz="950" dirty="0">
                <a:solidFill>
                  <a:srgbClr val="8F8F8F"/>
                </a:solidFill>
                <a:latin typeface="Mona Sans Light" pitchFamily="34" charset="0"/>
                <a:ea typeface="Mona Sans Light" pitchFamily="34" charset="-122"/>
                <a:cs typeface="Mona Sans Light" pitchFamily="34" charset="-120"/>
              </a:rPr>
              <a:t>03</a:t>
            </a:r>
            <a:endParaRPr lang="en-US" sz="950" dirty="0"/>
          </a:p>
        </p:txBody>
      </p:sp>
      <p:sp>
        <p:nvSpPr>
          <p:cNvPr id="12" name="Shape 10"/>
          <p:cNvSpPr/>
          <p:nvPr/>
        </p:nvSpPr>
        <p:spPr>
          <a:xfrm>
            <a:off x="9669899" y="1185982"/>
            <a:ext cx="4458533" cy="15240"/>
          </a:xfrm>
          <a:prstGeom prst="rect">
            <a:avLst/>
          </a:prstGeom>
          <a:solidFill>
            <a:srgbClr val="FFFFFF"/>
          </a:solidFill>
          <a:ln/>
        </p:spPr>
      </p:sp>
      <p:sp>
        <p:nvSpPr>
          <p:cNvPr id="13" name="Text 11"/>
          <p:cNvSpPr/>
          <p:nvPr/>
        </p:nvSpPr>
        <p:spPr>
          <a:xfrm>
            <a:off x="9669899" y="1279208"/>
            <a:ext cx="1568768" cy="196096"/>
          </a:xfrm>
          <a:prstGeom prst="rect">
            <a:avLst/>
          </a:prstGeom>
          <a:noFill/>
          <a:ln/>
        </p:spPr>
        <p:txBody>
          <a:bodyPr wrap="none" lIns="0" tIns="0" rIns="0" bIns="0" rtlCol="0" anchor="t"/>
          <a:lstStyle/>
          <a:p>
            <a:pPr algn="l" indent="0" marL="0">
              <a:lnSpc>
                <a:spcPts val="1500"/>
              </a:lnSpc>
              <a:buNone/>
            </a:pPr>
            <a:r>
              <a:rPr lang="en-US" sz="1200" dirty="0">
                <a:solidFill>
                  <a:srgbClr val="8F8F8F"/>
                </a:solidFill>
                <a:latin typeface="Mona Sans Semi Bold" pitchFamily="34" charset="0"/>
                <a:ea typeface="Mona Sans Semi Bold" pitchFamily="34" charset="-122"/>
                <a:cs typeface="Mona Sans Semi Bold" pitchFamily="34" charset="-120"/>
              </a:rPr>
              <a:t>Feature Scaling</a:t>
            </a:r>
            <a:endParaRPr lang="en-US" sz="1200" dirty="0"/>
          </a:p>
        </p:txBody>
      </p:sp>
      <p:sp>
        <p:nvSpPr>
          <p:cNvPr id="14" name="Text 12"/>
          <p:cNvSpPr/>
          <p:nvPr/>
        </p:nvSpPr>
        <p:spPr>
          <a:xfrm>
            <a:off x="9669899" y="1550551"/>
            <a:ext cx="4458533" cy="602218"/>
          </a:xfrm>
          <a:prstGeom prst="rect">
            <a:avLst/>
          </a:prstGeom>
          <a:noFill/>
          <a:ln/>
        </p:spPr>
        <p:txBody>
          <a:bodyPr wrap="square" lIns="0" tIns="0" rIns="0" bIns="0" rtlCol="0" anchor="t"/>
          <a:lstStyle/>
          <a:p>
            <a:pPr algn="l" indent="0" marL="0">
              <a:lnSpc>
                <a:spcPts val="1550"/>
              </a:lnSpc>
              <a:buNone/>
            </a:pPr>
            <a:r>
              <a:rPr lang="en-US" sz="950" dirty="0">
                <a:solidFill>
                  <a:srgbClr val="8F8F8F"/>
                </a:solidFill>
                <a:latin typeface="Funnel Sans" pitchFamily="34" charset="0"/>
                <a:ea typeface="Funnel Sans" pitchFamily="34" charset="-122"/>
                <a:cs typeface="Funnel Sans" pitchFamily="34" charset="-120"/>
              </a:rPr>
              <a:t>StandardScaler applied to normalize features, ensuring all variables contribute equally to model training. This is crucial for distance-based algorithms and improves convergence.</a:t>
            </a:r>
            <a:endParaRPr lang="en-US" sz="950" dirty="0"/>
          </a:p>
        </p:txBody>
      </p:sp>
      <p:sp>
        <p:nvSpPr>
          <p:cNvPr id="15" name="Text 13"/>
          <p:cNvSpPr/>
          <p:nvPr/>
        </p:nvSpPr>
        <p:spPr>
          <a:xfrm>
            <a:off x="501968" y="2513409"/>
            <a:ext cx="1945243" cy="196096"/>
          </a:xfrm>
          <a:prstGeom prst="rect">
            <a:avLst/>
          </a:prstGeom>
          <a:noFill/>
          <a:ln/>
        </p:spPr>
        <p:txBody>
          <a:bodyPr wrap="none" lIns="0" tIns="0" rIns="0" bIns="0" rtlCol="0" anchor="t"/>
          <a:lstStyle/>
          <a:p>
            <a:pPr algn="l" indent="0" marL="0">
              <a:lnSpc>
                <a:spcPts val="1500"/>
              </a:lnSpc>
              <a:buNone/>
            </a:pPr>
            <a:r>
              <a:rPr lang="en-US" sz="1200" dirty="0">
                <a:solidFill>
                  <a:srgbClr val="DDDDDD"/>
                </a:solidFill>
                <a:latin typeface="Mona Sans Semi Bold" pitchFamily="34" charset="0"/>
                <a:ea typeface="Mona Sans Semi Bold" pitchFamily="34" charset="-122"/>
                <a:cs typeface="Mona Sans Semi Bold" pitchFamily="34" charset="-120"/>
              </a:rPr>
              <a:t>Final Dataset Dimensions</a:t>
            </a:r>
            <a:endParaRPr lang="en-US" sz="1200" dirty="0"/>
          </a:p>
        </p:txBody>
      </p:sp>
      <p:sp>
        <p:nvSpPr>
          <p:cNvPr id="16" name="Text 14"/>
          <p:cNvSpPr/>
          <p:nvPr/>
        </p:nvSpPr>
        <p:spPr>
          <a:xfrm>
            <a:off x="501968" y="2834997"/>
            <a:ext cx="6660118" cy="2007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8F8F8F"/>
                </a:solidFill>
                <a:latin typeface="Funnel Sans" pitchFamily="34" charset="0"/>
                <a:ea typeface="Funnel Sans" pitchFamily="34" charset="-122"/>
                <a:cs typeface="Funnel Sans" pitchFamily="34" charset="-120"/>
              </a:rPr>
              <a:t>Training features: (212, 11)</a:t>
            </a:r>
            <a:endParaRPr lang="en-US" sz="950" dirty="0"/>
          </a:p>
        </p:txBody>
      </p:sp>
      <p:sp>
        <p:nvSpPr>
          <p:cNvPr id="17" name="Text 15"/>
          <p:cNvSpPr/>
          <p:nvPr/>
        </p:nvSpPr>
        <p:spPr>
          <a:xfrm>
            <a:off x="501968" y="3079552"/>
            <a:ext cx="6660118" cy="2007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8F8F8F"/>
                </a:solidFill>
                <a:latin typeface="Funnel Sans" pitchFamily="34" charset="0"/>
                <a:ea typeface="Funnel Sans" pitchFamily="34" charset="-122"/>
                <a:cs typeface="Funnel Sans" pitchFamily="34" charset="-120"/>
              </a:rPr>
              <a:t>Testing features: (91, 11)</a:t>
            </a:r>
            <a:endParaRPr lang="en-US" sz="950" dirty="0"/>
          </a:p>
        </p:txBody>
      </p:sp>
      <p:sp>
        <p:nvSpPr>
          <p:cNvPr id="18" name="Text 16"/>
          <p:cNvSpPr/>
          <p:nvPr/>
        </p:nvSpPr>
        <p:spPr>
          <a:xfrm>
            <a:off x="501968" y="3324106"/>
            <a:ext cx="6660118" cy="2007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8F8F8F"/>
                </a:solidFill>
                <a:latin typeface="Funnel Sans" pitchFamily="34" charset="0"/>
                <a:ea typeface="Funnel Sans" pitchFamily="34" charset="-122"/>
                <a:cs typeface="Funnel Sans" pitchFamily="34" charset="-120"/>
              </a:rPr>
              <a:t>Training target: (212,)</a:t>
            </a:r>
            <a:endParaRPr lang="en-US" sz="950" dirty="0"/>
          </a:p>
        </p:txBody>
      </p:sp>
      <p:sp>
        <p:nvSpPr>
          <p:cNvPr id="19" name="Text 17"/>
          <p:cNvSpPr/>
          <p:nvPr/>
        </p:nvSpPr>
        <p:spPr>
          <a:xfrm>
            <a:off x="501968" y="3568660"/>
            <a:ext cx="6660118" cy="200739"/>
          </a:xfrm>
          <a:prstGeom prst="rect">
            <a:avLst/>
          </a:prstGeom>
          <a:noFill/>
          <a:ln/>
        </p:spPr>
        <p:txBody>
          <a:bodyPr wrap="none" lIns="0" tIns="0" rIns="0" bIns="0" rtlCol="0" anchor="t"/>
          <a:lstStyle/>
          <a:p>
            <a:pPr algn="l" marL="342900" indent="-342900">
              <a:lnSpc>
                <a:spcPts val="1550"/>
              </a:lnSpc>
              <a:buSzPct val="100000"/>
              <a:buChar char="•"/>
            </a:pPr>
            <a:r>
              <a:rPr lang="en-US" sz="950" dirty="0">
                <a:solidFill>
                  <a:srgbClr val="8F8F8F"/>
                </a:solidFill>
                <a:latin typeface="Funnel Sans" pitchFamily="34" charset="0"/>
                <a:ea typeface="Funnel Sans" pitchFamily="34" charset="-122"/>
                <a:cs typeface="Funnel Sans" pitchFamily="34" charset="-120"/>
              </a:rPr>
              <a:t>Testing target: (91,)</a:t>
            </a:r>
            <a:endParaRPr lang="en-US" sz="950" dirty="0"/>
          </a:p>
        </p:txBody>
      </p:sp>
      <p:pic>
        <p:nvPicPr>
          <p:cNvPr id="20" name="Image 0" descr="preencoded.png">    </p:cNvPr>
          <p:cNvPicPr>
            <a:picLocks noChangeAspect="1"/>
          </p:cNvPicPr>
          <p:nvPr/>
        </p:nvPicPr>
        <p:blipFill>
          <a:blip r:embed="rId1"/>
          <a:stretch>
            <a:fillRect/>
          </a:stretch>
        </p:blipFill>
        <p:spPr>
          <a:xfrm>
            <a:off x="7475934" y="2529007"/>
            <a:ext cx="6660118" cy="66601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02945" y="484108"/>
            <a:ext cx="7172563" cy="549116"/>
          </a:xfrm>
          <a:prstGeom prst="rect">
            <a:avLst/>
          </a:prstGeom>
          <a:noFill/>
          <a:ln/>
        </p:spPr>
        <p:txBody>
          <a:bodyPr wrap="none" lIns="0" tIns="0" rIns="0" bIns="0" rtlCol="0" anchor="t"/>
          <a:lstStyle/>
          <a:p>
            <a:pPr algn="l" indent="0" marL="0">
              <a:lnSpc>
                <a:spcPts val="4300"/>
              </a:lnSpc>
              <a:buNone/>
            </a:pPr>
            <a:r>
              <a:rPr lang="en-US" sz="3450" dirty="0">
                <a:solidFill>
                  <a:srgbClr val="DDDDDD"/>
                </a:solidFill>
                <a:latin typeface="Mona Sans Semi Bold" pitchFamily="34" charset="0"/>
                <a:ea typeface="Mona Sans Semi Bold" pitchFamily="34" charset="-122"/>
                <a:cs typeface="Mona Sans Semi Bold" pitchFamily="34" charset="-120"/>
              </a:rPr>
              <a:t>Logistic Regression: Initial Results</a:t>
            </a:r>
            <a:endParaRPr lang="en-US" sz="3450" dirty="0"/>
          </a:p>
        </p:txBody>
      </p:sp>
      <p:sp>
        <p:nvSpPr>
          <p:cNvPr id="3" name="Text 1"/>
          <p:cNvSpPr/>
          <p:nvPr/>
        </p:nvSpPr>
        <p:spPr>
          <a:xfrm>
            <a:off x="702945" y="1472565"/>
            <a:ext cx="2927509" cy="274558"/>
          </a:xfrm>
          <a:prstGeom prst="rect">
            <a:avLst/>
          </a:prstGeom>
          <a:noFill/>
          <a:ln/>
        </p:spPr>
        <p:txBody>
          <a:bodyPr wrap="none" lIns="0" tIns="0" rIns="0" bIns="0" rtlCol="0" anchor="t"/>
          <a:lstStyle/>
          <a:p>
            <a:pPr algn="l" indent="0" marL="0">
              <a:lnSpc>
                <a:spcPts val="2150"/>
              </a:lnSpc>
              <a:buNone/>
            </a:pPr>
            <a:r>
              <a:rPr lang="en-US" sz="1700" dirty="0">
                <a:solidFill>
                  <a:srgbClr val="DDDDDD"/>
                </a:solidFill>
                <a:latin typeface="Mona Sans Semi Bold" pitchFamily="34" charset="0"/>
                <a:ea typeface="Mona Sans Semi Bold" pitchFamily="34" charset="-122"/>
                <a:cs typeface="Mona Sans Semi Bold" pitchFamily="34" charset="-120"/>
              </a:rPr>
              <a:t>Model Performance Metrics</a:t>
            </a:r>
            <a:endParaRPr lang="en-US" sz="1700" dirty="0"/>
          </a:p>
        </p:txBody>
      </p:sp>
      <p:sp>
        <p:nvSpPr>
          <p:cNvPr id="4" name="Text 2"/>
          <p:cNvSpPr/>
          <p:nvPr/>
        </p:nvSpPr>
        <p:spPr>
          <a:xfrm>
            <a:off x="702945" y="2032635"/>
            <a:ext cx="2747724" cy="579834"/>
          </a:xfrm>
          <a:prstGeom prst="rect">
            <a:avLst/>
          </a:prstGeom>
          <a:noFill/>
          <a:ln/>
        </p:spPr>
        <p:txBody>
          <a:bodyPr wrap="none" lIns="0" tIns="0" rIns="0" bIns="0" rtlCol="0" anchor="t"/>
          <a:lstStyle/>
          <a:p>
            <a:pPr algn="ctr" indent="0" marL="0">
              <a:lnSpc>
                <a:spcPts val="4550"/>
              </a:lnSpc>
              <a:buNone/>
            </a:pPr>
            <a:r>
              <a:rPr lang="en-US" sz="4550" dirty="0">
                <a:solidFill>
                  <a:srgbClr val="8F8F8F"/>
                </a:solidFill>
                <a:latin typeface="Mona Sans Semi Bold" pitchFamily="34" charset="0"/>
                <a:ea typeface="Mona Sans Semi Bold" pitchFamily="34" charset="-122"/>
                <a:cs typeface="Mona Sans Semi Bold" pitchFamily="34" charset="-120"/>
              </a:rPr>
              <a:t>75%</a:t>
            </a:r>
            <a:endParaRPr lang="en-US" sz="4550" dirty="0"/>
          </a:p>
        </p:txBody>
      </p:sp>
      <p:sp>
        <p:nvSpPr>
          <p:cNvPr id="5" name="Text 3"/>
          <p:cNvSpPr/>
          <p:nvPr/>
        </p:nvSpPr>
        <p:spPr>
          <a:xfrm>
            <a:off x="978456" y="2832140"/>
            <a:ext cx="2196703" cy="274558"/>
          </a:xfrm>
          <a:prstGeom prst="rect">
            <a:avLst/>
          </a:prstGeom>
          <a:noFill/>
          <a:ln/>
        </p:spPr>
        <p:txBody>
          <a:bodyPr wrap="none" lIns="0" tIns="0" rIns="0" bIns="0" rtlCol="0" anchor="t"/>
          <a:lstStyle/>
          <a:p>
            <a:pPr algn="ctr" indent="0" marL="0">
              <a:lnSpc>
                <a:spcPts val="2150"/>
              </a:lnSpc>
              <a:buNone/>
            </a:pPr>
            <a:r>
              <a:rPr lang="en-US" sz="1700" dirty="0">
                <a:solidFill>
                  <a:srgbClr val="8F8F8F"/>
                </a:solidFill>
                <a:latin typeface="Mona Sans Semi Bold" pitchFamily="34" charset="0"/>
                <a:ea typeface="Mona Sans Semi Bold" pitchFamily="34" charset="-122"/>
                <a:cs typeface="Mona Sans Semi Bold" pitchFamily="34" charset="-120"/>
              </a:rPr>
              <a:t>Accuracy</a:t>
            </a:r>
            <a:endParaRPr lang="en-US" sz="1700" dirty="0"/>
          </a:p>
        </p:txBody>
      </p:sp>
      <p:sp>
        <p:nvSpPr>
          <p:cNvPr id="6" name="Text 4"/>
          <p:cNvSpPr/>
          <p:nvPr/>
        </p:nvSpPr>
        <p:spPr>
          <a:xfrm>
            <a:off x="702945" y="3282434"/>
            <a:ext cx="2747724" cy="281107"/>
          </a:xfrm>
          <a:prstGeom prst="rect">
            <a:avLst/>
          </a:prstGeom>
          <a:noFill/>
          <a:ln/>
        </p:spPr>
        <p:txBody>
          <a:bodyPr wrap="none" lIns="0" tIns="0" rIns="0" bIns="0" rtlCol="0" anchor="t"/>
          <a:lstStyle/>
          <a:p>
            <a:pPr algn="ctr" indent="0" marL="0">
              <a:lnSpc>
                <a:spcPts val="2200"/>
              </a:lnSpc>
              <a:buNone/>
            </a:pPr>
            <a:r>
              <a:rPr lang="en-US" sz="1350" dirty="0">
                <a:solidFill>
                  <a:srgbClr val="8F8F8F"/>
                </a:solidFill>
                <a:latin typeface="Funnel Sans" pitchFamily="34" charset="0"/>
                <a:ea typeface="Funnel Sans" pitchFamily="34" charset="-122"/>
                <a:cs typeface="Funnel Sans" pitchFamily="34" charset="-120"/>
              </a:rPr>
              <a:t>Overall correct classification rate</a:t>
            </a:r>
            <a:endParaRPr lang="en-US" sz="1350" dirty="0"/>
          </a:p>
        </p:txBody>
      </p:sp>
      <p:sp>
        <p:nvSpPr>
          <p:cNvPr id="7" name="Text 5"/>
          <p:cNvSpPr/>
          <p:nvPr/>
        </p:nvSpPr>
        <p:spPr>
          <a:xfrm>
            <a:off x="3670340" y="2032635"/>
            <a:ext cx="2747843" cy="579834"/>
          </a:xfrm>
          <a:prstGeom prst="rect">
            <a:avLst/>
          </a:prstGeom>
          <a:noFill/>
          <a:ln/>
        </p:spPr>
        <p:txBody>
          <a:bodyPr wrap="none" lIns="0" tIns="0" rIns="0" bIns="0" rtlCol="0" anchor="t"/>
          <a:lstStyle/>
          <a:p>
            <a:pPr algn="ctr" indent="0" marL="0">
              <a:lnSpc>
                <a:spcPts val="4550"/>
              </a:lnSpc>
              <a:buNone/>
            </a:pPr>
            <a:r>
              <a:rPr lang="en-US" sz="4550" dirty="0">
                <a:solidFill>
                  <a:srgbClr val="8F8F8F"/>
                </a:solidFill>
                <a:latin typeface="Mona Sans Semi Bold" pitchFamily="34" charset="0"/>
                <a:ea typeface="Mona Sans Semi Bold" pitchFamily="34" charset="-122"/>
                <a:cs typeface="Mona Sans Semi Bold" pitchFamily="34" charset="-120"/>
              </a:rPr>
              <a:t>78%</a:t>
            </a:r>
            <a:endParaRPr lang="en-US" sz="4550" dirty="0"/>
          </a:p>
        </p:txBody>
      </p:sp>
      <p:sp>
        <p:nvSpPr>
          <p:cNvPr id="8" name="Text 6"/>
          <p:cNvSpPr/>
          <p:nvPr/>
        </p:nvSpPr>
        <p:spPr>
          <a:xfrm>
            <a:off x="3945850" y="2832140"/>
            <a:ext cx="2196703" cy="274558"/>
          </a:xfrm>
          <a:prstGeom prst="rect">
            <a:avLst/>
          </a:prstGeom>
          <a:noFill/>
          <a:ln/>
        </p:spPr>
        <p:txBody>
          <a:bodyPr wrap="none" lIns="0" tIns="0" rIns="0" bIns="0" rtlCol="0" anchor="t"/>
          <a:lstStyle/>
          <a:p>
            <a:pPr algn="ctr" indent="0" marL="0">
              <a:lnSpc>
                <a:spcPts val="2150"/>
              </a:lnSpc>
              <a:buNone/>
            </a:pPr>
            <a:r>
              <a:rPr lang="en-US" sz="1700" dirty="0">
                <a:solidFill>
                  <a:srgbClr val="8F8F8F"/>
                </a:solidFill>
                <a:latin typeface="Mona Sans Semi Bold" pitchFamily="34" charset="0"/>
                <a:ea typeface="Mona Sans Semi Bold" pitchFamily="34" charset="-122"/>
                <a:cs typeface="Mona Sans Semi Bold" pitchFamily="34" charset="-120"/>
              </a:rPr>
              <a:t>Precision (Class 1)</a:t>
            </a:r>
            <a:endParaRPr lang="en-US" sz="1700" dirty="0"/>
          </a:p>
        </p:txBody>
      </p:sp>
      <p:sp>
        <p:nvSpPr>
          <p:cNvPr id="9" name="Text 7"/>
          <p:cNvSpPr/>
          <p:nvPr/>
        </p:nvSpPr>
        <p:spPr>
          <a:xfrm>
            <a:off x="3670340" y="3282434"/>
            <a:ext cx="2747843" cy="562213"/>
          </a:xfrm>
          <a:prstGeom prst="rect">
            <a:avLst/>
          </a:prstGeom>
          <a:noFill/>
          <a:ln/>
        </p:spPr>
        <p:txBody>
          <a:bodyPr wrap="square" lIns="0" tIns="0" rIns="0" bIns="0" rtlCol="0" anchor="t"/>
          <a:lstStyle/>
          <a:p>
            <a:pPr algn="ctr" indent="0" marL="0">
              <a:lnSpc>
                <a:spcPts val="2200"/>
              </a:lnSpc>
              <a:buNone/>
            </a:pPr>
            <a:r>
              <a:rPr lang="en-US" sz="1350" dirty="0">
                <a:solidFill>
                  <a:srgbClr val="8F8F8F"/>
                </a:solidFill>
                <a:latin typeface="Funnel Sans" pitchFamily="34" charset="0"/>
                <a:ea typeface="Funnel Sans" pitchFamily="34" charset="-122"/>
                <a:cs typeface="Funnel Sans" pitchFamily="34" charset="-120"/>
              </a:rPr>
              <a:t>When predicting disease, correct 78% of the time</a:t>
            </a:r>
            <a:endParaRPr lang="en-US" sz="1350" dirty="0"/>
          </a:p>
        </p:txBody>
      </p:sp>
      <p:sp>
        <p:nvSpPr>
          <p:cNvPr id="10" name="Text 8"/>
          <p:cNvSpPr/>
          <p:nvPr/>
        </p:nvSpPr>
        <p:spPr>
          <a:xfrm>
            <a:off x="702945" y="4283988"/>
            <a:ext cx="2747724" cy="579834"/>
          </a:xfrm>
          <a:prstGeom prst="rect">
            <a:avLst/>
          </a:prstGeom>
          <a:noFill/>
          <a:ln/>
        </p:spPr>
        <p:txBody>
          <a:bodyPr wrap="none" lIns="0" tIns="0" rIns="0" bIns="0" rtlCol="0" anchor="t"/>
          <a:lstStyle/>
          <a:p>
            <a:pPr algn="ctr" indent="0" marL="0">
              <a:lnSpc>
                <a:spcPts val="4550"/>
              </a:lnSpc>
              <a:buNone/>
            </a:pPr>
            <a:r>
              <a:rPr lang="en-US" sz="4550" dirty="0">
                <a:solidFill>
                  <a:srgbClr val="8F8F8F"/>
                </a:solidFill>
                <a:latin typeface="Mona Sans Semi Bold" pitchFamily="34" charset="0"/>
                <a:ea typeface="Mona Sans Semi Bold" pitchFamily="34" charset="-122"/>
                <a:cs typeface="Mona Sans Semi Bold" pitchFamily="34" charset="-120"/>
              </a:rPr>
              <a:t>76%</a:t>
            </a:r>
            <a:endParaRPr lang="en-US" sz="4550" dirty="0"/>
          </a:p>
        </p:txBody>
      </p:sp>
      <p:sp>
        <p:nvSpPr>
          <p:cNvPr id="11" name="Text 9"/>
          <p:cNvSpPr/>
          <p:nvPr/>
        </p:nvSpPr>
        <p:spPr>
          <a:xfrm>
            <a:off x="978456" y="5083493"/>
            <a:ext cx="2196703" cy="274558"/>
          </a:xfrm>
          <a:prstGeom prst="rect">
            <a:avLst/>
          </a:prstGeom>
          <a:noFill/>
          <a:ln/>
        </p:spPr>
        <p:txBody>
          <a:bodyPr wrap="none" lIns="0" tIns="0" rIns="0" bIns="0" rtlCol="0" anchor="t"/>
          <a:lstStyle/>
          <a:p>
            <a:pPr algn="ctr" indent="0" marL="0">
              <a:lnSpc>
                <a:spcPts val="2150"/>
              </a:lnSpc>
              <a:buNone/>
            </a:pPr>
            <a:r>
              <a:rPr lang="en-US" sz="1700" dirty="0">
                <a:solidFill>
                  <a:srgbClr val="8F8F8F"/>
                </a:solidFill>
                <a:latin typeface="Mona Sans Semi Bold" pitchFamily="34" charset="0"/>
                <a:ea typeface="Mona Sans Semi Bold" pitchFamily="34" charset="-122"/>
                <a:cs typeface="Mona Sans Semi Bold" pitchFamily="34" charset="-120"/>
              </a:rPr>
              <a:t>Recall (Class 1)</a:t>
            </a:r>
            <a:endParaRPr lang="en-US" sz="1700" dirty="0"/>
          </a:p>
        </p:txBody>
      </p:sp>
      <p:sp>
        <p:nvSpPr>
          <p:cNvPr id="12" name="Text 10"/>
          <p:cNvSpPr/>
          <p:nvPr/>
        </p:nvSpPr>
        <p:spPr>
          <a:xfrm>
            <a:off x="702945" y="5533787"/>
            <a:ext cx="2747724" cy="562213"/>
          </a:xfrm>
          <a:prstGeom prst="rect">
            <a:avLst/>
          </a:prstGeom>
          <a:noFill/>
          <a:ln/>
        </p:spPr>
        <p:txBody>
          <a:bodyPr wrap="square" lIns="0" tIns="0" rIns="0" bIns="0" rtlCol="0" anchor="t"/>
          <a:lstStyle/>
          <a:p>
            <a:pPr algn="ctr" indent="0" marL="0">
              <a:lnSpc>
                <a:spcPts val="2200"/>
              </a:lnSpc>
              <a:buNone/>
            </a:pPr>
            <a:r>
              <a:rPr lang="en-US" sz="1350" dirty="0">
                <a:solidFill>
                  <a:srgbClr val="8F8F8F"/>
                </a:solidFill>
                <a:latin typeface="Funnel Sans" pitchFamily="34" charset="0"/>
                <a:ea typeface="Funnel Sans" pitchFamily="34" charset="-122"/>
                <a:cs typeface="Funnel Sans" pitchFamily="34" charset="-120"/>
              </a:rPr>
              <a:t>Identifies 76% of actual disease cases</a:t>
            </a:r>
            <a:endParaRPr lang="en-US" sz="1350" dirty="0"/>
          </a:p>
        </p:txBody>
      </p:sp>
      <p:sp>
        <p:nvSpPr>
          <p:cNvPr id="13" name="Text 11"/>
          <p:cNvSpPr/>
          <p:nvPr/>
        </p:nvSpPr>
        <p:spPr>
          <a:xfrm>
            <a:off x="3670340" y="4283988"/>
            <a:ext cx="2747843" cy="579834"/>
          </a:xfrm>
          <a:prstGeom prst="rect">
            <a:avLst/>
          </a:prstGeom>
          <a:noFill/>
          <a:ln/>
        </p:spPr>
        <p:txBody>
          <a:bodyPr wrap="none" lIns="0" tIns="0" rIns="0" bIns="0" rtlCol="0" anchor="t"/>
          <a:lstStyle/>
          <a:p>
            <a:pPr algn="ctr" indent="0" marL="0">
              <a:lnSpc>
                <a:spcPts val="4550"/>
              </a:lnSpc>
              <a:buNone/>
            </a:pPr>
            <a:r>
              <a:rPr lang="en-US" sz="4550" dirty="0">
                <a:solidFill>
                  <a:srgbClr val="8F8F8F"/>
                </a:solidFill>
                <a:latin typeface="Mona Sans Semi Bold" pitchFamily="34" charset="0"/>
                <a:ea typeface="Mona Sans Semi Bold" pitchFamily="34" charset="-122"/>
                <a:cs typeface="Mona Sans Semi Bold" pitchFamily="34" charset="-120"/>
              </a:rPr>
              <a:t>0.77</a:t>
            </a:r>
            <a:endParaRPr lang="en-US" sz="4550" dirty="0"/>
          </a:p>
        </p:txBody>
      </p:sp>
      <p:sp>
        <p:nvSpPr>
          <p:cNvPr id="14" name="Text 12"/>
          <p:cNvSpPr/>
          <p:nvPr/>
        </p:nvSpPr>
        <p:spPr>
          <a:xfrm>
            <a:off x="3945850" y="5083493"/>
            <a:ext cx="2196703" cy="274558"/>
          </a:xfrm>
          <a:prstGeom prst="rect">
            <a:avLst/>
          </a:prstGeom>
          <a:noFill/>
          <a:ln/>
        </p:spPr>
        <p:txBody>
          <a:bodyPr wrap="none" lIns="0" tIns="0" rIns="0" bIns="0" rtlCol="0" anchor="t"/>
          <a:lstStyle/>
          <a:p>
            <a:pPr algn="ctr" indent="0" marL="0">
              <a:lnSpc>
                <a:spcPts val="2150"/>
              </a:lnSpc>
              <a:buNone/>
            </a:pPr>
            <a:r>
              <a:rPr lang="en-US" sz="1700" dirty="0">
                <a:solidFill>
                  <a:srgbClr val="8F8F8F"/>
                </a:solidFill>
                <a:latin typeface="Mona Sans Semi Bold" pitchFamily="34" charset="0"/>
                <a:ea typeface="Mona Sans Semi Bold" pitchFamily="34" charset="-122"/>
                <a:cs typeface="Mona Sans Semi Bold" pitchFamily="34" charset="-120"/>
              </a:rPr>
              <a:t>F1-Score</a:t>
            </a:r>
            <a:endParaRPr lang="en-US" sz="1700" dirty="0"/>
          </a:p>
        </p:txBody>
      </p:sp>
      <p:sp>
        <p:nvSpPr>
          <p:cNvPr id="15" name="Text 13"/>
          <p:cNvSpPr/>
          <p:nvPr/>
        </p:nvSpPr>
        <p:spPr>
          <a:xfrm>
            <a:off x="3670340" y="5533787"/>
            <a:ext cx="2747843" cy="562213"/>
          </a:xfrm>
          <a:prstGeom prst="rect">
            <a:avLst/>
          </a:prstGeom>
          <a:noFill/>
          <a:ln/>
        </p:spPr>
        <p:txBody>
          <a:bodyPr wrap="square" lIns="0" tIns="0" rIns="0" bIns="0" rtlCol="0" anchor="t"/>
          <a:lstStyle/>
          <a:p>
            <a:pPr algn="ctr" indent="0" marL="0">
              <a:lnSpc>
                <a:spcPts val="2200"/>
              </a:lnSpc>
              <a:buNone/>
            </a:pPr>
            <a:r>
              <a:rPr lang="en-US" sz="1350" dirty="0">
                <a:solidFill>
                  <a:srgbClr val="8F8F8F"/>
                </a:solidFill>
                <a:latin typeface="Funnel Sans" pitchFamily="34" charset="0"/>
                <a:ea typeface="Funnel Sans" pitchFamily="34" charset="-122"/>
                <a:cs typeface="Funnel Sans" pitchFamily="34" charset="-120"/>
              </a:rPr>
              <a:t>Good balance between precision and recall</a:t>
            </a:r>
            <a:endParaRPr lang="en-US" sz="1350" dirty="0"/>
          </a:p>
        </p:txBody>
      </p:sp>
      <p:sp>
        <p:nvSpPr>
          <p:cNvPr id="16" name="Text 14"/>
          <p:cNvSpPr/>
          <p:nvPr/>
        </p:nvSpPr>
        <p:spPr>
          <a:xfrm>
            <a:off x="702945" y="6293644"/>
            <a:ext cx="2277070" cy="274558"/>
          </a:xfrm>
          <a:prstGeom prst="rect">
            <a:avLst/>
          </a:prstGeom>
          <a:noFill/>
          <a:ln/>
        </p:spPr>
        <p:txBody>
          <a:bodyPr wrap="none" lIns="0" tIns="0" rIns="0" bIns="0" rtlCol="0" anchor="t"/>
          <a:lstStyle/>
          <a:p>
            <a:pPr algn="l" indent="0" marL="0">
              <a:lnSpc>
                <a:spcPts val="2150"/>
              </a:lnSpc>
              <a:buNone/>
            </a:pPr>
            <a:r>
              <a:rPr lang="en-US" sz="1700" dirty="0">
                <a:solidFill>
                  <a:srgbClr val="DDDDDD"/>
                </a:solidFill>
                <a:latin typeface="Mona Sans Semi Bold" pitchFamily="34" charset="0"/>
                <a:ea typeface="Mona Sans Semi Bold" pitchFamily="34" charset="-122"/>
                <a:cs typeface="Mona Sans Semi Bold" pitchFamily="34" charset="-120"/>
              </a:rPr>
              <a:t>Baseline Comparison</a:t>
            </a:r>
            <a:endParaRPr lang="en-US" sz="1700" dirty="0"/>
          </a:p>
        </p:txBody>
      </p:sp>
      <p:sp>
        <p:nvSpPr>
          <p:cNvPr id="17" name="Text 15"/>
          <p:cNvSpPr/>
          <p:nvPr/>
        </p:nvSpPr>
        <p:spPr>
          <a:xfrm>
            <a:off x="702945" y="6743938"/>
            <a:ext cx="5715238" cy="843320"/>
          </a:xfrm>
          <a:prstGeom prst="rect">
            <a:avLst/>
          </a:prstGeom>
          <a:noFill/>
          <a:ln/>
        </p:spPr>
        <p:txBody>
          <a:bodyPr wrap="square" lIns="0" tIns="0" rIns="0" bIns="0" rtlCol="0" anchor="t"/>
          <a:lstStyle/>
          <a:p>
            <a:pPr algn="l" indent="0" marL="0">
              <a:lnSpc>
                <a:spcPts val="2200"/>
              </a:lnSpc>
              <a:buNone/>
            </a:pPr>
            <a:r>
              <a:rPr lang="en-US" sz="1350" dirty="0">
                <a:solidFill>
                  <a:srgbClr val="8F8F8F"/>
                </a:solidFill>
                <a:latin typeface="Funnel Sans" pitchFamily="34" charset="0"/>
                <a:ea typeface="Funnel Sans" pitchFamily="34" charset="-122"/>
                <a:cs typeface="Funnel Sans" pitchFamily="34" charset="-120"/>
              </a:rPr>
              <a:t>Dummy classifier (most frequent strategy) achieved only </a:t>
            </a:r>
            <a:pPr algn="l" indent="0" marL="0">
              <a:lnSpc>
                <a:spcPts val="2200"/>
              </a:lnSpc>
              <a:buNone/>
            </a:pPr>
            <a:r>
              <a:rPr lang="en-US" sz="1350" b="1" dirty="0">
                <a:solidFill>
                  <a:srgbClr val="8F8F8F"/>
                </a:solidFill>
                <a:latin typeface="Funnel Sans" pitchFamily="34" charset="0"/>
                <a:ea typeface="Funnel Sans" pitchFamily="34" charset="-122"/>
                <a:cs typeface="Funnel Sans" pitchFamily="34" charset="-120"/>
              </a:rPr>
              <a:t>56% accuracy</a:t>
            </a:r>
            <a:pPr algn="l" indent="0" marL="0">
              <a:lnSpc>
                <a:spcPts val="2200"/>
              </a:lnSpc>
              <a:buNone/>
            </a:pPr>
            <a:r>
              <a:rPr lang="en-US" sz="1350" dirty="0">
                <a:solidFill>
                  <a:srgbClr val="8F8F8F"/>
                </a:solidFill>
                <a:latin typeface="Funnel Sans" pitchFamily="34" charset="0"/>
                <a:ea typeface="Funnel Sans" pitchFamily="34" charset="-122"/>
                <a:cs typeface="Funnel Sans" pitchFamily="34" charset="-120"/>
              </a:rPr>
              <a:t>, confirming our logistic regression model provides substantial predictive value over random guessing.</a:t>
            </a:r>
            <a:endParaRPr lang="en-US" sz="1350" dirty="0"/>
          </a:p>
        </p:txBody>
      </p:sp>
      <p:pic>
        <p:nvPicPr>
          <p:cNvPr id="18" name="Image 0" descr="preencoded.png">    </p:cNvPr>
          <p:cNvPicPr>
            <a:picLocks noChangeAspect="1"/>
          </p:cNvPicPr>
          <p:nvPr/>
        </p:nvPicPr>
        <p:blipFill>
          <a:blip r:embed="rId1"/>
          <a:stretch>
            <a:fillRect/>
          </a:stretch>
        </p:blipFill>
        <p:spPr>
          <a:xfrm>
            <a:off x="6854428" y="1494473"/>
            <a:ext cx="6326505" cy="5344120"/>
          </a:xfrm>
          <a:prstGeom prst="rect">
            <a:avLst/>
          </a:prstGeom>
        </p:spPr>
      </p:pic>
      <p:sp>
        <p:nvSpPr>
          <p:cNvPr id="19" name="Text 16"/>
          <p:cNvSpPr/>
          <p:nvPr/>
        </p:nvSpPr>
        <p:spPr>
          <a:xfrm>
            <a:off x="6854428" y="7036237"/>
            <a:ext cx="7080528" cy="224909"/>
          </a:xfrm>
          <a:prstGeom prst="rect">
            <a:avLst/>
          </a:prstGeom>
          <a:noFill/>
          <a:ln/>
        </p:spPr>
        <p:txBody>
          <a:bodyPr wrap="none" lIns="0" tIns="0" rIns="0" bIns="0" rtlCol="0" anchor="t"/>
          <a:lstStyle/>
          <a:p>
            <a:pPr algn="l" indent="0" marL="0">
              <a:lnSpc>
                <a:spcPts val="1750"/>
              </a:lnSpc>
              <a:buNone/>
            </a:pPr>
            <a:r>
              <a:rPr lang="en-US" sz="1100" dirty="0">
                <a:solidFill>
                  <a:srgbClr val="8F8F8F"/>
                </a:solidFill>
                <a:latin typeface="Funnel Sans" pitchFamily="34" charset="0"/>
                <a:ea typeface="Funnel Sans" pitchFamily="34" charset="-122"/>
                <a:cs typeface="Funnel Sans" pitchFamily="34" charset="-120"/>
              </a:rPr>
              <a:t>Confusion matrix showing 29 true negatives, 11 false positives, 12 false negatives, and 39 true positives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73048" y="394097"/>
            <a:ext cx="7245191" cy="447675"/>
          </a:xfrm>
          <a:prstGeom prst="rect">
            <a:avLst/>
          </a:prstGeom>
          <a:noFill/>
          <a:ln/>
        </p:spPr>
        <p:txBody>
          <a:bodyPr wrap="none" lIns="0" tIns="0" rIns="0" bIns="0" rtlCol="0" anchor="t"/>
          <a:lstStyle/>
          <a:p>
            <a:pPr algn="l" indent="0" marL="0">
              <a:lnSpc>
                <a:spcPts val="3500"/>
              </a:lnSpc>
              <a:buNone/>
            </a:pPr>
            <a:r>
              <a:rPr lang="en-US" sz="2800" dirty="0">
                <a:solidFill>
                  <a:srgbClr val="DDDDDD"/>
                </a:solidFill>
                <a:latin typeface="Mona Sans Semi Bold" pitchFamily="34" charset="0"/>
                <a:ea typeface="Mona Sans Semi Bold" pitchFamily="34" charset="-122"/>
                <a:cs typeface="Mona Sans Semi Bold" pitchFamily="34" charset="-120"/>
              </a:rPr>
              <a:t>Hyperparameter Tuning and Optimization</a:t>
            </a:r>
            <a:endParaRPr lang="en-US" sz="2800" dirty="0"/>
          </a:p>
        </p:txBody>
      </p:sp>
      <p:pic>
        <p:nvPicPr>
          <p:cNvPr id="3" name="Image 0" descr="preencoded.png">    </p:cNvPr>
          <p:cNvPicPr>
            <a:picLocks noChangeAspect="1"/>
          </p:cNvPicPr>
          <p:nvPr/>
        </p:nvPicPr>
        <p:blipFill>
          <a:blip r:embed="rId1"/>
          <a:stretch>
            <a:fillRect/>
          </a:stretch>
        </p:blipFill>
        <p:spPr>
          <a:xfrm>
            <a:off x="573048" y="1128236"/>
            <a:ext cx="4494728" cy="573048"/>
          </a:xfrm>
          <a:prstGeom prst="rect">
            <a:avLst/>
          </a:prstGeom>
        </p:spPr>
      </p:pic>
      <p:sp>
        <p:nvSpPr>
          <p:cNvPr id="4" name="Text 1"/>
          <p:cNvSpPr/>
          <p:nvPr/>
        </p:nvSpPr>
        <p:spPr>
          <a:xfrm>
            <a:off x="716280" y="1844516"/>
            <a:ext cx="1790938" cy="223838"/>
          </a:xfrm>
          <a:prstGeom prst="rect">
            <a:avLst/>
          </a:prstGeom>
          <a:noFill/>
          <a:ln/>
        </p:spPr>
        <p:txBody>
          <a:bodyPr wrap="none" lIns="0" tIns="0" rIns="0" bIns="0" rtlCol="0" anchor="t"/>
          <a:lstStyle/>
          <a:p>
            <a:pPr algn="l" indent="0" marL="0">
              <a:lnSpc>
                <a:spcPts val="1750"/>
              </a:lnSpc>
              <a:buNone/>
            </a:pPr>
            <a:r>
              <a:rPr lang="en-US" sz="1400" dirty="0">
                <a:solidFill>
                  <a:srgbClr val="8F8F8F"/>
                </a:solidFill>
                <a:latin typeface="Mona Sans Semi Bold" pitchFamily="34" charset="0"/>
                <a:ea typeface="Mona Sans Semi Bold" pitchFamily="34" charset="-122"/>
                <a:cs typeface="Mona Sans Semi Bold" pitchFamily="34" charset="-120"/>
              </a:rPr>
              <a:t>Grid Search</a:t>
            </a:r>
            <a:endParaRPr lang="en-US" sz="1400" dirty="0"/>
          </a:p>
        </p:txBody>
      </p:sp>
      <p:sp>
        <p:nvSpPr>
          <p:cNvPr id="5" name="Text 2"/>
          <p:cNvSpPr/>
          <p:nvPr/>
        </p:nvSpPr>
        <p:spPr>
          <a:xfrm>
            <a:off x="716280" y="2154317"/>
            <a:ext cx="4208264" cy="458153"/>
          </a:xfrm>
          <a:prstGeom prst="rect">
            <a:avLst/>
          </a:prstGeom>
          <a:noFill/>
          <a:ln/>
        </p:spPr>
        <p:txBody>
          <a:bodyPr wrap="square" lIns="0" tIns="0" rIns="0" bIns="0" rtlCol="0" anchor="t"/>
          <a:lstStyle/>
          <a:p>
            <a:pPr algn="l" indent="0" marL="0">
              <a:lnSpc>
                <a:spcPts val="1800"/>
              </a:lnSpc>
              <a:buNone/>
            </a:pPr>
            <a:r>
              <a:rPr lang="en-US" sz="1100" dirty="0">
                <a:solidFill>
                  <a:srgbClr val="8F8F8F"/>
                </a:solidFill>
                <a:latin typeface="Funnel Sans" pitchFamily="34" charset="0"/>
                <a:ea typeface="Funnel Sans" pitchFamily="34" charset="-122"/>
                <a:cs typeface="Funnel Sans" pitchFamily="34" charset="-120"/>
              </a:rPr>
              <a:t>Tested C values: [0.001, 0.01, 0.1, 1, 10, 100] using 5-fold cross-validation</a:t>
            </a:r>
            <a:endParaRPr lang="en-US" sz="1100" dirty="0"/>
          </a:p>
        </p:txBody>
      </p:sp>
      <p:pic>
        <p:nvPicPr>
          <p:cNvPr id="6" name="Image 1" descr="preencoded.png">    </p:cNvPr>
          <p:cNvPicPr>
            <a:picLocks noChangeAspect="1"/>
          </p:cNvPicPr>
          <p:nvPr/>
        </p:nvPicPr>
        <p:blipFill>
          <a:blip r:embed="rId2"/>
          <a:stretch>
            <a:fillRect/>
          </a:stretch>
        </p:blipFill>
        <p:spPr>
          <a:xfrm>
            <a:off x="5067776" y="1128236"/>
            <a:ext cx="4494728" cy="573048"/>
          </a:xfrm>
          <a:prstGeom prst="rect">
            <a:avLst/>
          </a:prstGeom>
        </p:spPr>
      </p:pic>
      <p:sp>
        <p:nvSpPr>
          <p:cNvPr id="7" name="Text 3"/>
          <p:cNvSpPr/>
          <p:nvPr/>
        </p:nvSpPr>
        <p:spPr>
          <a:xfrm>
            <a:off x="5211008" y="1844516"/>
            <a:ext cx="1790938" cy="223838"/>
          </a:xfrm>
          <a:prstGeom prst="rect">
            <a:avLst/>
          </a:prstGeom>
          <a:noFill/>
          <a:ln/>
        </p:spPr>
        <p:txBody>
          <a:bodyPr wrap="none" lIns="0" tIns="0" rIns="0" bIns="0" rtlCol="0" anchor="t"/>
          <a:lstStyle/>
          <a:p>
            <a:pPr algn="l" indent="0" marL="0">
              <a:lnSpc>
                <a:spcPts val="1750"/>
              </a:lnSpc>
              <a:buNone/>
            </a:pPr>
            <a:r>
              <a:rPr lang="en-US" sz="1400" dirty="0">
                <a:solidFill>
                  <a:srgbClr val="8F8F8F"/>
                </a:solidFill>
                <a:latin typeface="Mona Sans Semi Bold" pitchFamily="34" charset="0"/>
                <a:ea typeface="Mona Sans Semi Bold" pitchFamily="34" charset="-122"/>
                <a:cs typeface="Mona Sans Semi Bold" pitchFamily="34" charset="-120"/>
              </a:rPr>
              <a:t>Best Parameter</a:t>
            </a:r>
            <a:endParaRPr lang="en-US" sz="1400" dirty="0"/>
          </a:p>
        </p:txBody>
      </p:sp>
      <p:sp>
        <p:nvSpPr>
          <p:cNvPr id="8" name="Text 4"/>
          <p:cNvSpPr/>
          <p:nvPr/>
        </p:nvSpPr>
        <p:spPr>
          <a:xfrm>
            <a:off x="5211008" y="2154317"/>
            <a:ext cx="4208264" cy="229076"/>
          </a:xfrm>
          <a:prstGeom prst="rect">
            <a:avLst/>
          </a:prstGeom>
          <a:noFill/>
          <a:ln/>
        </p:spPr>
        <p:txBody>
          <a:bodyPr wrap="none" lIns="0" tIns="0" rIns="0" bIns="0" rtlCol="0" anchor="t"/>
          <a:lstStyle/>
          <a:p>
            <a:pPr algn="l" indent="0" marL="0">
              <a:lnSpc>
                <a:spcPts val="1800"/>
              </a:lnSpc>
              <a:buNone/>
            </a:pPr>
            <a:r>
              <a:rPr lang="en-US" sz="1100" b="1" dirty="0">
                <a:solidFill>
                  <a:srgbClr val="8F8F8F"/>
                </a:solidFill>
                <a:latin typeface="Funnel Sans" pitchFamily="34" charset="0"/>
                <a:ea typeface="Funnel Sans" pitchFamily="34" charset="-122"/>
                <a:cs typeface="Funnel Sans" pitchFamily="34" charset="-120"/>
              </a:rPr>
              <a:t>C = 0.1</a:t>
            </a:r>
            <a:pPr algn="l" indent="0" marL="0">
              <a:lnSpc>
                <a:spcPts val="1800"/>
              </a:lnSpc>
              <a:buNone/>
            </a:pPr>
            <a:r>
              <a:rPr lang="en-US" sz="1100" dirty="0">
                <a:solidFill>
                  <a:srgbClr val="8F8F8F"/>
                </a:solidFill>
                <a:latin typeface="Funnel Sans" pitchFamily="34" charset="0"/>
                <a:ea typeface="Funnel Sans" pitchFamily="34" charset="-122"/>
                <a:cs typeface="Funnel Sans" pitchFamily="34" charset="-120"/>
              </a:rPr>
              <a:t> identified as optimal regularization strength</a:t>
            </a:r>
            <a:endParaRPr lang="en-US" sz="1100" dirty="0"/>
          </a:p>
        </p:txBody>
      </p:sp>
      <p:pic>
        <p:nvPicPr>
          <p:cNvPr id="9" name="Image 2" descr="preencoded.png">    </p:cNvPr>
          <p:cNvPicPr>
            <a:picLocks noChangeAspect="1"/>
          </p:cNvPicPr>
          <p:nvPr/>
        </p:nvPicPr>
        <p:blipFill>
          <a:blip r:embed="rId3"/>
          <a:stretch>
            <a:fillRect/>
          </a:stretch>
        </p:blipFill>
        <p:spPr>
          <a:xfrm>
            <a:off x="9562505" y="1128236"/>
            <a:ext cx="4494728" cy="573048"/>
          </a:xfrm>
          <a:prstGeom prst="rect">
            <a:avLst/>
          </a:prstGeom>
        </p:spPr>
      </p:pic>
      <p:sp>
        <p:nvSpPr>
          <p:cNvPr id="10" name="Text 5"/>
          <p:cNvSpPr/>
          <p:nvPr/>
        </p:nvSpPr>
        <p:spPr>
          <a:xfrm>
            <a:off x="9705737" y="1844516"/>
            <a:ext cx="1790938" cy="223838"/>
          </a:xfrm>
          <a:prstGeom prst="rect">
            <a:avLst/>
          </a:prstGeom>
          <a:noFill/>
          <a:ln/>
        </p:spPr>
        <p:txBody>
          <a:bodyPr wrap="none" lIns="0" tIns="0" rIns="0" bIns="0" rtlCol="0" anchor="t"/>
          <a:lstStyle/>
          <a:p>
            <a:pPr algn="l" indent="0" marL="0">
              <a:lnSpc>
                <a:spcPts val="1750"/>
              </a:lnSpc>
              <a:buNone/>
            </a:pPr>
            <a:r>
              <a:rPr lang="en-US" sz="1400" dirty="0">
                <a:solidFill>
                  <a:srgbClr val="8F8F8F"/>
                </a:solidFill>
                <a:latin typeface="Mona Sans Semi Bold" pitchFamily="34" charset="0"/>
                <a:ea typeface="Mona Sans Semi Bold" pitchFamily="34" charset="-122"/>
                <a:cs typeface="Mona Sans Semi Bold" pitchFamily="34" charset="-120"/>
              </a:rPr>
              <a:t>Improved Results</a:t>
            </a:r>
            <a:endParaRPr lang="en-US" sz="1400" dirty="0"/>
          </a:p>
        </p:txBody>
      </p:sp>
      <p:sp>
        <p:nvSpPr>
          <p:cNvPr id="11" name="Text 6"/>
          <p:cNvSpPr/>
          <p:nvPr/>
        </p:nvSpPr>
        <p:spPr>
          <a:xfrm>
            <a:off x="9705737" y="2154317"/>
            <a:ext cx="4208264" cy="229076"/>
          </a:xfrm>
          <a:prstGeom prst="rect">
            <a:avLst/>
          </a:prstGeom>
          <a:noFill/>
          <a:ln/>
        </p:spPr>
        <p:txBody>
          <a:bodyPr wrap="none" lIns="0" tIns="0" rIns="0" bIns="0" rtlCol="0" anchor="t"/>
          <a:lstStyle/>
          <a:p>
            <a:pPr algn="l" indent="0" marL="0">
              <a:lnSpc>
                <a:spcPts val="1800"/>
              </a:lnSpc>
              <a:buNone/>
            </a:pPr>
            <a:r>
              <a:rPr lang="en-US" sz="1100" dirty="0">
                <a:solidFill>
                  <a:srgbClr val="8F8F8F"/>
                </a:solidFill>
                <a:latin typeface="Funnel Sans" pitchFamily="34" charset="0"/>
                <a:ea typeface="Funnel Sans" pitchFamily="34" charset="-122"/>
                <a:cs typeface="Funnel Sans" pitchFamily="34" charset="-120"/>
              </a:rPr>
              <a:t>Accuracy increased from 75% to </a:t>
            </a:r>
            <a:pPr algn="l" indent="0" marL="0">
              <a:lnSpc>
                <a:spcPts val="1800"/>
              </a:lnSpc>
              <a:buNone/>
            </a:pPr>
            <a:r>
              <a:rPr lang="en-US" sz="1100" b="1" dirty="0">
                <a:solidFill>
                  <a:srgbClr val="8F8F8F"/>
                </a:solidFill>
                <a:latin typeface="Funnel Sans" pitchFamily="34" charset="0"/>
                <a:ea typeface="Funnel Sans" pitchFamily="34" charset="-122"/>
                <a:cs typeface="Funnel Sans" pitchFamily="34" charset="-120"/>
              </a:rPr>
              <a:t>79%</a:t>
            </a:r>
            <a:pPr algn="l" indent="0" marL="0">
              <a:lnSpc>
                <a:spcPts val="1800"/>
              </a:lnSpc>
              <a:buNone/>
            </a:pPr>
            <a:r>
              <a:rPr lang="en-US" sz="1100" dirty="0">
                <a:solidFill>
                  <a:srgbClr val="8F8F8F"/>
                </a:solidFill>
                <a:latin typeface="Funnel Sans" pitchFamily="34" charset="0"/>
                <a:ea typeface="Funnel Sans" pitchFamily="34" charset="-122"/>
                <a:cs typeface="Funnel Sans" pitchFamily="34" charset="-120"/>
              </a:rPr>
              <a:t> - a 4.5% improvement</a:t>
            </a:r>
            <a:endParaRPr lang="en-US" sz="1100" dirty="0"/>
          </a:p>
        </p:txBody>
      </p:sp>
      <p:sp>
        <p:nvSpPr>
          <p:cNvPr id="12" name="Text 7"/>
          <p:cNvSpPr/>
          <p:nvPr/>
        </p:nvSpPr>
        <p:spPr>
          <a:xfrm>
            <a:off x="573048" y="3060025"/>
            <a:ext cx="2069425" cy="223838"/>
          </a:xfrm>
          <a:prstGeom prst="rect">
            <a:avLst/>
          </a:prstGeom>
          <a:noFill/>
          <a:ln/>
        </p:spPr>
        <p:txBody>
          <a:bodyPr wrap="none" lIns="0" tIns="0" rIns="0" bIns="0" rtlCol="0" anchor="t"/>
          <a:lstStyle/>
          <a:p>
            <a:pPr algn="l" indent="0" marL="0">
              <a:lnSpc>
                <a:spcPts val="1750"/>
              </a:lnSpc>
              <a:buNone/>
            </a:pPr>
            <a:r>
              <a:rPr lang="en-US" sz="1400" dirty="0">
                <a:solidFill>
                  <a:srgbClr val="DDDDDD"/>
                </a:solidFill>
                <a:latin typeface="Mona Sans Semi Bold" pitchFamily="34" charset="0"/>
                <a:ea typeface="Mona Sans Semi Bold" pitchFamily="34" charset="-122"/>
                <a:cs typeface="Mona Sans Semi Bold" pitchFamily="34" charset="-120"/>
              </a:rPr>
              <a:t>Optimized Performance</a:t>
            </a:r>
            <a:endParaRPr lang="en-US" sz="1400" dirty="0"/>
          </a:p>
        </p:txBody>
      </p:sp>
      <p:sp>
        <p:nvSpPr>
          <p:cNvPr id="13" name="Text 8"/>
          <p:cNvSpPr/>
          <p:nvPr/>
        </p:nvSpPr>
        <p:spPr>
          <a:xfrm>
            <a:off x="573048" y="3427095"/>
            <a:ext cx="6567368" cy="229076"/>
          </a:xfrm>
          <a:prstGeom prst="rect">
            <a:avLst/>
          </a:prstGeom>
          <a:noFill/>
          <a:ln/>
        </p:spPr>
        <p:txBody>
          <a:bodyPr wrap="none" lIns="0" tIns="0" rIns="0" bIns="0" rtlCol="0" anchor="t"/>
          <a:lstStyle/>
          <a:p>
            <a:pPr algn="l" marL="342900" indent="-342900">
              <a:lnSpc>
                <a:spcPts val="1800"/>
              </a:lnSpc>
              <a:buSzPct val="100000"/>
              <a:buChar char="•"/>
            </a:pPr>
            <a:r>
              <a:rPr lang="en-US" sz="1100" b="1" dirty="0">
                <a:solidFill>
                  <a:srgbClr val="8F8F8F"/>
                </a:solidFill>
                <a:latin typeface="Funnel Sans" pitchFamily="34" charset="0"/>
                <a:ea typeface="Funnel Sans" pitchFamily="34" charset="-122"/>
                <a:cs typeface="Funnel Sans" pitchFamily="34" charset="-120"/>
              </a:rPr>
              <a:t>Accuracy:</a:t>
            </a:r>
            <a:pPr algn="l" indent="0" marL="0">
              <a:lnSpc>
                <a:spcPts val="1800"/>
              </a:lnSpc>
              <a:buNone/>
            </a:pPr>
            <a:r>
              <a:rPr lang="en-US" sz="1100" dirty="0">
                <a:solidFill>
                  <a:srgbClr val="8F8F8F"/>
                </a:solidFill>
                <a:latin typeface="Funnel Sans" pitchFamily="34" charset="0"/>
                <a:ea typeface="Funnel Sans" pitchFamily="34" charset="-122"/>
                <a:cs typeface="Funnel Sans" pitchFamily="34" charset="-120"/>
              </a:rPr>
              <a:t> 79.1%</a:t>
            </a:r>
            <a:endParaRPr lang="en-US" sz="1100" dirty="0"/>
          </a:p>
        </p:txBody>
      </p:sp>
      <p:sp>
        <p:nvSpPr>
          <p:cNvPr id="14" name="Text 9"/>
          <p:cNvSpPr/>
          <p:nvPr/>
        </p:nvSpPr>
        <p:spPr>
          <a:xfrm>
            <a:off x="573048" y="3706297"/>
            <a:ext cx="6567368" cy="229076"/>
          </a:xfrm>
          <a:prstGeom prst="rect">
            <a:avLst/>
          </a:prstGeom>
          <a:noFill/>
          <a:ln/>
        </p:spPr>
        <p:txBody>
          <a:bodyPr wrap="none" lIns="0" tIns="0" rIns="0" bIns="0" rtlCol="0" anchor="t"/>
          <a:lstStyle/>
          <a:p>
            <a:pPr algn="l" marL="342900" indent="-342900">
              <a:lnSpc>
                <a:spcPts val="1800"/>
              </a:lnSpc>
              <a:buSzPct val="100000"/>
              <a:buChar char="•"/>
            </a:pPr>
            <a:r>
              <a:rPr lang="en-US" sz="1100" b="1" dirty="0">
                <a:solidFill>
                  <a:srgbClr val="8F8F8F"/>
                </a:solidFill>
                <a:latin typeface="Funnel Sans" pitchFamily="34" charset="0"/>
                <a:ea typeface="Funnel Sans" pitchFamily="34" charset="-122"/>
                <a:cs typeface="Funnel Sans" pitchFamily="34" charset="-120"/>
              </a:rPr>
              <a:t>Precision (Class 0):</a:t>
            </a:r>
            <a:pPr algn="l" indent="0" marL="0">
              <a:lnSpc>
                <a:spcPts val="1800"/>
              </a:lnSpc>
              <a:buNone/>
            </a:pPr>
            <a:r>
              <a:rPr lang="en-US" sz="1100" dirty="0">
                <a:solidFill>
                  <a:srgbClr val="8F8F8F"/>
                </a:solidFill>
                <a:latin typeface="Funnel Sans" pitchFamily="34" charset="0"/>
                <a:ea typeface="Funnel Sans" pitchFamily="34" charset="-122"/>
                <a:cs typeface="Funnel Sans" pitchFamily="34" charset="-120"/>
              </a:rPr>
              <a:t> 78%</a:t>
            </a:r>
            <a:endParaRPr lang="en-US" sz="1100" dirty="0"/>
          </a:p>
        </p:txBody>
      </p:sp>
      <p:sp>
        <p:nvSpPr>
          <p:cNvPr id="15" name="Text 10"/>
          <p:cNvSpPr/>
          <p:nvPr/>
        </p:nvSpPr>
        <p:spPr>
          <a:xfrm>
            <a:off x="573048" y="3985498"/>
            <a:ext cx="6567368" cy="229076"/>
          </a:xfrm>
          <a:prstGeom prst="rect">
            <a:avLst/>
          </a:prstGeom>
          <a:noFill/>
          <a:ln/>
        </p:spPr>
        <p:txBody>
          <a:bodyPr wrap="none" lIns="0" tIns="0" rIns="0" bIns="0" rtlCol="0" anchor="t"/>
          <a:lstStyle/>
          <a:p>
            <a:pPr algn="l" marL="342900" indent="-342900">
              <a:lnSpc>
                <a:spcPts val="1800"/>
              </a:lnSpc>
              <a:buSzPct val="100000"/>
              <a:buChar char="•"/>
            </a:pPr>
            <a:r>
              <a:rPr lang="en-US" sz="1100" b="1" dirty="0">
                <a:solidFill>
                  <a:srgbClr val="8F8F8F"/>
                </a:solidFill>
                <a:latin typeface="Funnel Sans" pitchFamily="34" charset="0"/>
                <a:ea typeface="Funnel Sans" pitchFamily="34" charset="-122"/>
                <a:cs typeface="Funnel Sans" pitchFamily="34" charset="-120"/>
              </a:rPr>
              <a:t>Precision (Class 1):</a:t>
            </a:r>
            <a:pPr algn="l" indent="0" marL="0">
              <a:lnSpc>
                <a:spcPts val="1800"/>
              </a:lnSpc>
              <a:buNone/>
            </a:pPr>
            <a:r>
              <a:rPr lang="en-US" sz="1100" dirty="0">
                <a:solidFill>
                  <a:srgbClr val="8F8F8F"/>
                </a:solidFill>
                <a:latin typeface="Funnel Sans" pitchFamily="34" charset="0"/>
                <a:ea typeface="Funnel Sans" pitchFamily="34" charset="-122"/>
                <a:cs typeface="Funnel Sans" pitchFamily="34" charset="-120"/>
              </a:rPr>
              <a:t> 80%</a:t>
            </a:r>
            <a:endParaRPr lang="en-US" sz="1100" dirty="0"/>
          </a:p>
        </p:txBody>
      </p:sp>
      <p:sp>
        <p:nvSpPr>
          <p:cNvPr id="16" name="Text 11"/>
          <p:cNvSpPr/>
          <p:nvPr/>
        </p:nvSpPr>
        <p:spPr>
          <a:xfrm>
            <a:off x="573048" y="4264700"/>
            <a:ext cx="6567368" cy="229076"/>
          </a:xfrm>
          <a:prstGeom prst="rect">
            <a:avLst/>
          </a:prstGeom>
          <a:noFill/>
          <a:ln/>
        </p:spPr>
        <p:txBody>
          <a:bodyPr wrap="none" lIns="0" tIns="0" rIns="0" bIns="0" rtlCol="0" anchor="t"/>
          <a:lstStyle/>
          <a:p>
            <a:pPr algn="l" marL="342900" indent="-342900">
              <a:lnSpc>
                <a:spcPts val="1800"/>
              </a:lnSpc>
              <a:buSzPct val="100000"/>
              <a:buChar char="•"/>
            </a:pPr>
            <a:r>
              <a:rPr lang="en-US" sz="1100" b="1" dirty="0">
                <a:solidFill>
                  <a:srgbClr val="8F8F8F"/>
                </a:solidFill>
                <a:latin typeface="Funnel Sans" pitchFamily="34" charset="0"/>
                <a:ea typeface="Funnel Sans" pitchFamily="34" charset="-122"/>
                <a:cs typeface="Funnel Sans" pitchFamily="34" charset="-120"/>
              </a:rPr>
              <a:t>Recall (Class 0):</a:t>
            </a:r>
            <a:pPr algn="l" indent="0" marL="0">
              <a:lnSpc>
                <a:spcPts val="1800"/>
              </a:lnSpc>
              <a:buNone/>
            </a:pPr>
            <a:r>
              <a:rPr lang="en-US" sz="1100" dirty="0">
                <a:solidFill>
                  <a:srgbClr val="8F8F8F"/>
                </a:solidFill>
                <a:latin typeface="Funnel Sans" pitchFamily="34" charset="0"/>
                <a:ea typeface="Funnel Sans" pitchFamily="34" charset="-122"/>
                <a:cs typeface="Funnel Sans" pitchFamily="34" charset="-120"/>
              </a:rPr>
              <a:t> 72%</a:t>
            </a:r>
            <a:endParaRPr lang="en-US" sz="1100" dirty="0"/>
          </a:p>
        </p:txBody>
      </p:sp>
      <p:sp>
        <p:nvSpPr>
          <p:cNvPr id="17" name="Text 12"/>
          <p:cNvSpPr/>
          <p:nvPr/>
        </p:nvSpPr>
        <p:spPr>
          <a:xfrm>
            <a:off x="573048" y="4543901"/>
            <a:ext cx="6567368" cy="229076"/>
          </a:xfrm>
          <a:prstGeom prst="rect">
            <a:avLst/>
          </a:prstGeom>
          <a:noFill/>
          <a:ln/>
        </p:spPr>
        <p:txBody>
          <a:bodyPr wrap="none" lIns="0" tIns="0" rIns="0" bIns="0" rtlCol="0" anchor="t"/>
          <a:lstStyle/>
          <a:p>
            <a:pPr algn="l" marL="342900" indent="-342900">
              <a:lnSpc>
                <a:spcPts val="1800"/>
              </a:lnSpc>
              <a:buSzPct val="100000"/>
              <a:buChar char="•"/>
            </a:pPr>
            <a:r>
              <a:rPr lang="en-US" sz="1100" b="1" dirty="0">
                <a:solidFill>
                  <a:srgbClr val="8F8F8F"/>
                </a:solidFill>
                <a:latin typeface="Funnel Sans" pitchFamily="34" charset="0"/>
                <a:ea typeface="Funnel Sans" pitchFamily="34" charset="-122"/>
                <a:cs typeface="Funnel Sans" pitchFamily="34" charset="-120"/>
              </a:rPr>
              <a:t>Recall (Class 1):</a:t>
            </a:r>
            <a:pPr algn="l" indent="0" marL="0">
              <a:lnSpc>
                <a:spcPts val="1800"/>
              </a:lnSpc>
              <a:buNone/>
            </a:pPr>
            <a:r>
              <a:rPr lang="en-US" sz="1100" dirty="0">
                <a:solidFill>
                  <a:srgbClr val="8F8F8F"/>
                </a:solidFill>
                <a:latin typeface="Funnel Sans" pitchFamily="34" charset="0"/>
                <a:ea typeface="Funnel Sans" pitchFamily="34" charset="-122"/>
                <a:cs typeface="Funnel Sans" pitchFamily="34" charset="-120"/>
              </a:rPr>
              <a:t> 84%</a:t>
            </a:r>
            <a:endParaRPr lang="en-US" sz="1100" dirty="0"/>
          </a:p>
        </p:txBody>
      </p:sp>
      <p:sp>
        <p:nvSpPr>
          <p:cNvPr id="18" name="Text 13"/>
          <p:cNvSpPr/>
          <p:nvPr/>
        </p:nvSpPr>
        <p:spPr>
          <a:xfrm>
            <a:off x="573048" y="4823103"/>
            <a:ext cx="6567368" cy="229076"/>
          </a:xfrm>
          <a:prstGeom prst="rect">
            <a:avLst/>
          </a:prstGeom>
          <a:noFill/>
          <a:ln/>
        </p:spPr>
        <p:txBody>
          <a:bodyPr wrap="none" lIns="0" tIns="0" rIns="0" bIns="0" rtlCol="0" anchor="t"/>
          <a:lstStyle/>
          <a:p>
            <a:pPr algn="l" marL="342900" indent="-342900">
              <a:lnSpc>
                <a:spcPts val="1800"/>
              </a:lnSpc>
              <a:buSzPct val="100000"/>
              <a:buChar char="•"/>
            </a:pPr>
            <a:r>
              <a:rPr lang="en-US" sz="1100" b="1" dirty="0">
                <a:solidFill>
                  <a:srgbClr val="8F8F8F"/>
                </a:solidFill>
                <a:latin typeface="Funnel Sans" pitchFamily="34" charset="0"/>
                <a:ea typeface="Funnel Sans" pitchFamily="34" charset="-122"/>
                <a:cs typeface="Funnel Sans" pitchFamily="34" charset="-120"/>
              </a:rPr>
              <a:t>F1-Score (Class 1):</a:t>
            </a:r>
            <a:pPr algn="l" indent="0" marL="0">
              <a:lnSpc>
                <a:spcPts val="1800"/>
              </a:lnSpc>
              <a:buNone/>
            </a:pPr>
            <a:r>
              <a:rPr lang="en-US" sz="1100" dirty="0">
                <a:solidFill>
                  <a:srgbClr val="8F8F8F"/>
                </a:solidFill>
                <a:latin typeface="Funnel Sans" pitchFamily="34" charset="0"/>
                <a:ea typeface="Funnel Sans" pitchFamily="34" charset="-122"/>
                <a:cs typeface="Funnel Sans" pitchFamily="34" charset="-120"/>
              </a:rPr>
              <a:t> 0.82</a:t>
            </a:r>
            <a:endParaRPr lang="en-US" sz="1100" dirty="0"/>
          </a:p>
        </p:txBody>
      </p:sp>
      <p:sp>
        <p:nvSpPr>
          <p:cNvPr id="19" name="Text 14"/>
          <p:cNvSpPr/>
          <p:nvPr/>
        </p:nvSpPr>
        <p:spPr>
          <a:xfrm>
            <a:off x="573048" y="5195411"/>
            <a:ext cx="1992749" cy="223838"/>
          </a:xfrm>
          <a:prstGeom prst="rect">
            <a:avLst/>
          </a:prstGeom>
          <a:noFill/>
          <a:ln/>
        </p:spPr>
        <p:txBody>
          <a:bodyPr wrap="none" lIns="0" tIns="0" rIns="0" bIns="0" rtlCol="0" anchor="t"/>
          <a:lstStyle/>
          <a:p>
            <a:pPr algn="l" indent="0" marL="0">
              <a:lnSpc>
                <a:spcPts val="1750"/>
              </a:lnSpc>
              <a:buNone/>
            </a:pPr>
            <a:r>
              <a:rPr lang="en-US" sz="1400" dirty="0">
                <a:solidFill>
                  <a:srgbClr val="DDDDDD"/>
                </a:solidFill>
                <a:latin typeface="Mona Sans Semi Bold" pitchFamily="34" charset="0"/>
                <a:ea typeface="Mona Sans Semi Bold" pitchFamily="34" charset="-122"/>
                <a:cs typeface="Mona Sans Semi Bold" pitchFamily="34" charset="-120"/>
              </a:rPr>
              <a:t>Cross-Validation Score</a:t>
            </a:r>
            <a:endParaRPr lang="en-US" sz="1400" dirty="0"/>
          </a:p>
        </p:txBody>
      </p:sp>
      <p:sp>
        <p:nvSpPr>
          <p:cNvPr id="20" name="Text 15"/>
          <p:cNvSpPr/>
          <p:nvPr/>
        </p:nvSpPr>
        <p:spPr>
          <a:xfrm>
            <a:off x="573048" y="5562481"/>
            <a:ext cx="6567368" cy="229076"/>
          </a:xfrm>
          <a:prstGeom prst="rect">
            <a:avLst/>
          </a:prstGeom>
          <a:noFill/>
          <a:ln/>
        </p:spPr>
        <p:txBody>
          <a:bodyPr wrap="none" lIns="0" tIns="0" rIns="0" bIns="0" rtlCol="0" anchor="t"/>
          <a:lstStyle/>
          <a:p>
            <a:pPr algn="l" indent="0" marL="0">
              <a:lnSpc>
                <a:spcPts val="1800"/>
              </a:lnSpc>
              <a:buNone/>
            </a:pPr>
            <a:r>
              <a:rPr lang="en-US" sz="1100" b="1" dirty="0">
                <a:solidFill>
                  <a:srgbClr val="8F8F8F"/>
                </a:solidFill>
                <a:latin typeface="Funnel Sans" pitchFamily="34" charset="0"/>
                <a:ea typeface="Funnel Sans" pitchFamily="34" charset="-122"/>
                <a:cs typeface="Funnel Sans" pitchFamily="34" charset="-120"/>
              </a:rPr>
              <a:t>Mean Accuracy: 84.5% ± 4.8%</a:t>
            </a:r>
            <a:endParaRPr lang="en-US" sz="1100" dirty="0"/>
          </a:p>
        </p:txBody>
      </p:sp>
      <p:sp>
        <p:nvSpPr>
          <p:cNvPr id="21" name="Text 16"/>
          <p:cNvSpPr/>
          <p:nvPr/>
        </p:nvSpPr>
        <p:spPr>
          <a:xfrm>
            <a:off x="573048" y="5920502"/>
            <a:ext cx="6567368" cy="458153"/>
          </a:xfrm>
          <a:prstGeom prst="rect">
            <a:avLst/>
          </a:prstGeom>
          <a:noFill/>
          <a:ln/>
        </p:spPr>
        <p:txBody>
          <a:bodyPr wrap="square" lIns="0" tIns="0" rIns="0" bIns="0" rtlCol="0" anchor="t"/>
          <a:lstStyle/>
          <a:p>
            <a:pPr algn="l" indent="0" marL="0">
              <a:lnSpc>
                <a:spcPts val="1800"/>
              </a:lnSpc>
              <a:buNone/>
            </a:pPr>
            <a:r>
              <a:rPr lang="en-US" sz="1100" dirty="0">
                <a:solidFill>
                  <a:srgbClr val="8F8F8F"/>
                </a:solidFill>
                <a:latin typeface="Funnel Sans" pitchFamily="34" charset="0"/>
                <a:ea typeface="Funnel Sans" pitchFamily="34" charset="-122"/>
                <a:cs typeface="Funnel Sans" pitchFamily="34" charset="-120"/>
              </a:rPr>
              <a:t>The low standard deviation indicates stable, consistent performance across different data splits with minimal overfitting.</a:t>
            </a:r>
            <a:endParaRPr lang="en-US" sz="1100" dirty="0"/>
          </a:p>
        </p:txBody>
      </p:sp>
      <p:pic>
        <p:nvPicPr>
          <p:cNvPr id="22" name="Image 3" descr="preencoded.png">    </p:cNvPr>
          <p:cNvPicPr>
            <a:picLocks noChangeAspect="1"/>
          </p:cNvPicPr>
          <p:nvPr/>
        </p:nvPicPr>
        <p:blipFill>
          <a:blip r:embed="rId4"/>
          <a:stretch>
            <a:fillRect/>
          </a:stretch>
        </p:blipFill>
        <p:spPr>
          <a:xfrm>
            <a:off x="7497604" y="3077885"/>
            <a:ext cx="5157907" cy="4284226"/>
          </a:xfrm>
          <a:prstGeom prst="rect">
            <a:avLst/>
          </a:prstGeom>
        </p:spPr>
      </p:pic>
      <p:sp>
        <p:nvSpPr>
          <p:cNvPr id="23" name="Text 17"/>
          <p:cNvSpPr/>
          <p:nvPr/>
        </p:nvSpPr>
        <p:spPr>
          <a:xfrm>
            <a:off x="7497604" y="7523202"/>
            <a:ext cx="6567368" cy="183356"/>
          </a:xfrm>
          <a:prstGeom prst="rect">
            <a:avLst/>
          </a:prstGeom>
          <a:noFill/>
          <a:ln/>
        </p:spPr>
        <p:txBody>
          <a:bodyPr wrap="none" lIns="0" tIns="0" rIns="0" bIns="0" rtlCol="0" anchor="t"/>
          <a:lstStyle/>
          <a:p>
            <a:pPr algn="l" indent="0" marL="0">
              <a:lnSpc>
                <a:spcPts val="1400"/>
              </a:lnSpc>
              <a:buNone/>
            </a:pPr>
            <a:r>
              <a:rPr lang="en-US" sz="900" dirty="0">
                <a:solidFill>
                  <a:srgbClr val="8F8F8F"/>
                </a:solidFill>
                <a:latin typeface="Funnel Sans" pitchFamily="34" charset="0"/>
                <a:ea typeface="Funnel Sans" pitchFamily="34" charset="-122"/>
                <a:cs typeface="Funnel Sans" pitchFamily="34" charset="-120"/>
              </a:rPr>
              <a:t>Improved confusion matrix after hyperparameter tuning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96835" y="272891"/>
            <a:ext cx="5145643" cy="310158"/>
          </a:xfrm>
          <a:prstGeom prst="rect">
            <a:avLst/>
          </a:prstGeom>
          <a:noFill/>
          <a:ln/>
        </p:spPr>
        <p:txBody>
          <a:bodyPr wrap="none" lIns="0" tIns="0" rIns="0" bIns="0" rtlCol="0" anchor="t"/>
          <a:lstStyle/>
          <a:p>
            <a:pPr algn="l" indent="0" marL="0">
              <a:lnSpc>
                <a:spcPts val="2400"/>
              </a:lnSpc>
              <a:buNone/>
            </a:pPr>
            <a:r>
              <a:rPr lang="en-US" sz="1950" dirty="0">
                <a:solidFill>
                  <a:srgbClr val="DDDDDD"/>
                </a:solidFill>
                <a:latin typeface="Mona Sans Semi Bold" pitchFamily="34" charset="0"/>
                <a:ea typeface="Mona Sans Semi Bold" pitchFamily="34" charset="-122"/>
                <a:cs typeface="Mona Sans Semi Bold" pitchFamily="34" charset="-120"/>
              </a:rPr>
              <a:t>Decision Tree Model: Superior Performance</a:t>
            </a:r>
            <a:endParaRPr lang="en-US" sz="1950" dirty="0"/>
          </a:p>
        </p:txBody>
      </p:sp>
      <p:sp>
        <p:nvSpPr>
          <p:cNvPr id="3" name="Text 1"/>
          <p:cNvSpPr/>
          <p:nvPr/>
        </p:nvSpPr>
        <p:spPr>
          <a:xfrm>
            <a:off x="396835" y="781407"/>
            <a:ext cx="13836729" cy="158591"/>
          </a:xfrm>
          <a:prstGeom prst="rect">
            <a:avLst/>
          </a:prstGeom>
          <a:noFill/>
          <a:ln/>
        </p:spPr>
        <p:txBody>
          <a:bodyPr wrap="none" lIns="0" tIns="0" rIns="0" bIns="0" rtlCol="0" anchor="t"/>
          <a:lstStyle/>
          <a:p>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The decision tree classifier was trained as an alternative approach, with hyperparameter tuning revealing </a:t>
            </a:r>
            <a:pPr algn="l" indent="0" marL="0">
              <a:lnSpc>
                <a:spcPts val="1250"/>
              </a:lnSpc>
              <a:buNone/>
            </a:pPr>
            <a:r>
              <a:rPr lang="en-US" sz="750" b="1" dirty="0">
                <a:solidFill>
                  <a:srgbClr val="8F8F8F"/>
                </a:solidFill>
                <a:latin typeface="Funnel Sans" pitchFamily="34" charset="0"/>
                <a:ea typeface="Funnel Sans" pitchFamily="34" charset="-122"/>
                <a:cs typeface="Funnel Sans" pitchFamily="34" charset="-120"/>
              </a:rPr>
              <a:t>max_depth=3</a:t>
            </a:r>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 as optimal.</a:t>
            </a:r>
            <a:endParaRPr lang="en-US" sz="750" dirty="0"/>
          </a:p>
        </p:txBody>
      </p:sp>
      <p:sp>
        <p:nvSpPr>
          <p:cNvPr id="4" name="Text 2"/>
          <p:cNvSpPr/>
          <p:nvPr/>
        </p:nvSpPr>
        <p:spPr>
          <a:xfrm>
            <a:off x="396835" y="1150739"/>
            <a:ext cx="1274445" cy="155019"/>
          </a:xfrm>
          <a:prstGeom prst="rect">
            <a:avLst/>
          </a:prstGeom>
          <a:noFill/>
          <a:ln/>
        </p:spPr>
        <p:txBody>
          <a:bodyPr wrap="none" lIns="0" tIns="0" rIns="0" bIns="0" rtlCol="0" anchor="t"/>
          <a:lstStyle/>
          <a:p>
            <a:pPr algn="l" indent="0" marL="0">
              <a:lnSpc>
                <a:spcPts val="1200"/>
              </a:lnSpc>
              <a:buNone/>
            </a:pPr>
            <a:r>
              <a:rPr lang="en-US" sz="950" dirty="0">
                <a:solidFill>
                  <a:srgbClr val="DDDDDD"/>
                </a:solidFill>
                <a:latin typeface="Mona Sans Semi Bold" pitchFamily="34" charset="0"/>
                <a:ea typeface="Mona Sans Semi Bold" pitchFamily="34" charset="-122"/>
                <a:cs typeface="Mona Sans Semi Bold" pitchFamily="34" charset="-120"/>
              </a:rPr>
              <a:t>Decision Tree Metrics</a:t>
            </a:r>
            <a:endParaRPr lang="en-US" sz="950" dirty="0"/>
          </a:p>
        </p:txBody>
      </p:sp>
      <p:sp>
        <p:nvSpPr>
          <p:cNvPr id="5" name="Text 3"/>
          <p:cNvSpPr/>
          <p:nvPr/>
        </p:nvSpPr>
        <p:spPr>
          <a:xfrm>
            <a:off x="2129314" y="2062282"/>
            <a:ext cx="1220510" cy="248007"/>
          </a:xfrm>
          <a:prstGeom prst="rect">
            <a:avLst/>
          </a:prstGeom>
          <a:noFill/>
          <a:ln/>
        </p:spPr>
        <p:txBody>
          <a:bodyPr wrap="none" lIns="0" tIns="0" rIns="0" bIns="0" rtlCol="0" anchor="t"/>
          <a:lstStyle/>
          <a:p>
            <a:pPr algn="ctr" indent="0" marL="0">
              <a:lnSpc>
                <a:spcPts val="1950"/>
              </a:lnSpc>
              <a:buNone/>
            </a:pPr>
            <a:r>
              <a:rPr lang="en-US" sz="1950" dirty="0">
                <a:solidFill>
                  <a:srgbClr val="8F8F8F"/>
                </a:solidFill>
                <a:latin typeface="Mona Sans Semi Bold" pitchFamily="34" charset="0"/>
                <a:ea typeface="Mona Sans Semi Bold" pitchFamily="34" charset="-122"/>
                <a:cs typeface="Mona Sans Semi Bold" pitchFamily="34" charset="-120"/>
              </a:rPr>
              <a:t>81%</a:t>
            </a:r>
            <a:endParaRPr lang="en-US" sz="1950" dirty="0"/>
          </a:p>
        </p:txBody>
      </p:sp>
      <p:pic>
        <p:nvPicPr>
          <p:cNvPr id="6" name="Image 0" descr="preencoded.png">    </p:cNvPr>
          <p:cNvPicPr>
            <a:picLocks noChangeAspect="1"/>
          </p:cNvPicPr>
          <p:nvPr/>
        </p:nvPicPr>
        <p:blipFill>
          <a:blip r:embed="rId1"/>
          <a:stretch>
            <a:fillRect/>
          </a:stretch>
        </p:blipFill>
        <p:spPr>
          <a:xfrm>
            <a:off x="1995368" y="1442085"/>
            <a:ext cx="1488519" cy="1488519"/>
          </a:xfrm>
          <a:prstGeom prst="rect">
            <a:avLst/>
          </a:prstGeom>
        </p:spPr>
      </p:pic>
      <p:sp>
        <p:nvSpPr>
          <p:cNvPr id="7" name="Text 4"/>
          <p:cNvSpPr/>
          <p:nvPr/>
        </p:nvSpPr>
        <p:spPr>
          <a:xfrm>
            <a:off x="2119432" y="3054548"/>
            <a:ext cx="1240393" cy="155019"/>
          </a:xfrm>
          <a:prstGeom prst="rect">
            <a:avLst/>
          </a:prstGeom>
          <a:noFill/>
          <a:ln/>
        </p:spPr>
        <p:txBody>
          <a:bodyPr wrap="none" lIns="0" tIns="0" rIns="0" bIns="0" rtlCol="0" anchor="t"/>
          <a:lstStyle/>
          <a:p>
            <a:pPr algn="ctr" indent="0" marL="0">
              <a:lnSpc>
                <a:spcPts val="1200"/>
              </a:lnSpc>
              <a:buNone/>
            </a:pPr>
            <a:r>
              <a:rPr lang="en-US" sz="950" dirty="0">
                <a:solidFill>
                  <a:srgbClr val="8F8F8F"/>
                </a:solidFill>
                <a:latin typeface="Mona Sans Semi Bold" pitchFamily="34" charset="0"/>
                <a:ea typeface="Mona Sans Semi Bold" pitchFamily="34" charset="-122"/>
                <a:cs typeface="Mona Sans Semi Bold" pitchFamily="34" charset="-120"/>
              </a:rPr>
              <a:t>Accuracy</a:t>
            </a:r>
            <a:endParaRPr lang="en-US" sz="950" dirty="0"/>
          </a:p>
        </p:txBody>
      </p:sp>
      <p:sp>
        <p:nvSpPr>
          <p:cNvPr id="8" name="Text 5"/>
          <p:cNvSpPr/>
          <p:nvPr/>
        </p:nvSpPr>
        <p:spPr>
          <a:xfrm>
            <a:off x="2129314" y="4052888"/>
            <a:ext cx="1220510" cy="248007"/>
          </a:xfrm>
          <a:prstGeom prst="rect">
            <a:avLst/>
          </a:prstGeom>
          <a:noFill/>
          <a:ln/>
        </p:spPr>
        <p:txBody>
          <a:bodyPr wrap="none" lIns="0" tIns="0" rIns="0" bIns="0" rtlCol="0" anchor="t"/>
          <a:lstStyle/>
          <a:p>
            <a:pPr algn="ctr" indent="0" marL="0">
              <a:lnSpc>
                <a:spcPts val="1950"/>
              </a:lnSpc>
              <a:buNone/>
            </a:pPr>
            <a:r>
              <a:rPr lang="en-US" sz="1950" dirty="0">
                <a:solidFill>
                  <a:srgbClr val="8F8F8F"/>
                </a:solidFill>
                <a:latin typeface="Mona Sans Semi Bold" pitchFamily="34" charset="0"/>
                <a:ea typeface="Mona Sans Semi Bold" pitchFamily="34" charset="-122"/>
                <a:cs typeface="Mona Sans Semi Bold" pitchFamily="34" charset="-120"/>
              </a:rPr>
              <a:t>87%</a:t>
            </a:r>
            <a:endParaRPr lang="en-US" sz="1950" dirty="0"/>
          </a:p>
        </p:txBody>
      </p:sp>
      <p:pic>
        <p:nvPicPr>
          <p:cNvPr id="9" name="Image 1" descr="preencoded.png">    </p:cNvPr>
          <p:cNvPicPr>
            <a:picLocks noChangeAspect="1"/>
          </p:cNvPicPr>
          <p:nvPr/>
        </p:nvPicPr>
        <p:blipFill>
          <a:blip r:embed="rId2"/>
          <a:stretch>
            <a:fillRect/>
          </a:stretch>
        </p:blipFill>
        <p:spPr>
          <a:xfrm>
            <a:off x="1995368" y="3432691"/>
            <a:ext cx="1488519" cy="1488519"/>
          </a:xfrm>
          <a:prstGeom prst="rect">
            <a:avLst/>
          </a:prstGeom>
        </p:spPr>
      </p:pic>
      <p:sp>
        <p:nvSpPr>
          <p:cNvPr id="10" name="Text 6"/>
          <p:cNvSpPr/>
          <p:nvPr/>
        </p:nvSpPr>
        <p:spPr>
          <a:xfrm>
            <a:off x="2119432" y="5045154"/>
            <a:ext cx="1240393" cy="155019"/>
          </a:xfrm>
          <a:prstGeom prst="rect">
            <a:avLst/>
          </a:prstGeom>
          <a:noFill/>
          <a:ln/>
        </p:spPr>
        <p:txBody>
          <a:bodyPr wrap="none" lIns="0" tIns="0" rIns="0" bIns="0" rtlCol="0" anchor="t"/>
          <a:lstStyle/>
          <a:p>
            <a:pPr algn="ctr" indent="0" marL="0">
              <a:lnSpc>
                <a:spcPts val="1200"/>
              </a:lnSpc>
              <a:buNone/>
            </a:pPr>
            <a:r>
              <a:rPr lang="en-US" sz="950" dirty="0">
                <a:solidFill>
                  <a:srgbClr val="8F8F8F"/>
                </a:solidFill>
                <a:latin typeface="Mona Sans Semi Bold" pitchFamily="34" charset="0"/>
                <a:ea typeface="Mona Sans Semi Bold" pitchFamily="34" charset="-122"/>
                <a:cs typeface="Mona Sans Semi Bold" pitchFamily="34" charset="-120"/>
              </a:rPr>
              <a:t>Precision (Class 0)</a:t>
            </a:r>
            <a:endParaRPr lang="en-US" sz="950" dirty="0"/>
          </a:p>
        </p:txBody>
      </p:sp>
      <p:sp>
        <p:nvSpPr>
          <p:cNvPr id="11" name="Text 7"/>
          <p:cNvSpPr/>
          <p:nvPr/>
        </p:nvSpPr>
        <p:spPr>
          <a:xfrm>
            <a:off x="2129314" y="6043493"/>
            <a:ext cx="1220510" cy="248007"/>
          </a:xfrm>
          <a:prstGeom prst="rect">
            <a:avLst/>
          </a:prstGeom>
          <a:noFill/>
          <a:ln/>
        </p:spPr>
        <p:txBody>
          <a:bodyPr wrap="none" lIns="0" tIns="0" rIns="0" bIns="0" rtlCol="0" anchor="t"/>
          <a:lstStyle/>
          <a:p>
            <a:pPr algn="ctr" indent="0" marL="0">
              <a:lnSpc>
                <a:spcPts val="1950"/>
              </a:lnSpc>
              <a:buNone/>
            </a:pPr>
            <a:r>
              <a:rPr lang="en-US" sz="1950" dirty="0">
                <a:solidFill>
                  <a:srgbClr val="8F8F8F"/>
                </a:solidFill>
                <a:latin typeface="Mona Sans Semi Bold" pitchFamily="34" charset="0"/>
                <a:ea typeface="Mona Sans Semi Bold" pitchFamily="34" charset="-122"/>
                <a:cs typeface="Mona Sans Semi Bold" pitchFamily="34" charset="-120"/>
              </a:rPr>
              <a:t>92%</a:t>
            </a:r>
            <a:endParaRPr lang="en-US" sz="1950" dirty="0"/>
          </a:p>
        </p:txBody>
      </p:sp>
      <p:pic>
        <p:nvPicPr>
          <p:cNvPr id="12" name="Image 2" descr="preencoded.png">    </p:cNvPr>
          <p:cNvPicPr>
            <a:picLocks noChangeAspect="1"/>
          </p:cNvPicPr>
          <p:nvPr/>
        </p:nvPicPr>
        <p:blipFill>
          <a:blip r:embed="rId3"/>
          <a:stretch>
            <a:fillRect/>
          </a:stretch>
        </p:blipFill>
        <p:spPr>
          <a:xfrm>
            <a:off x="1995368" y="5423297"/>
            <a:ext cx="1488519" cy="1488519"/>
          </a:xfrm>
          <a:prstGeom prst="rect">
            <a:avLst/>
          </a:prstGeom>
        </p:spPr>
      </p:pic>
      <p:sp>
        <p:nvSpPr>
          <p:cNvPr id="13" name="Text 8"/>
          <p:cNvSpPr/>
          <p:nvPr/>
        </p:nvSpPr>
        <p:spPr>
          <a:xfrm>
            <a:off x="2119432" y="7035760"/>
            <a:ext cx="1240393" cy="155019"/>
          </a:xfrm>
          <a:prstGeom prst="rect">
            <a:avLst/>
          </a:prstGeom>
          <a:noFill/>
          <a:ln/>
        </p:spPr>
        <p:txBody>
          <a:bodyPr wrap="none" lIns="0" tIns="0" rIns="0" bIns="0" rtlCol="0" anchor="t"/>
          <a:lstStyle/>
          <a:p>
            <a:pPr algn="ctr" indent="0" marL="0">
              <a:lnSpc>
                <a:spcPts val="1200"/>
              </a:lnSpc>
              <a:buNone/>
            </a:pPr>
            <a:r>
              <a:rPr lang="en-US" sz="950" dirty="0">
                <a:solidFill>
                  <a:srgbClr val="8F8F8F"/>
                </a:solidFill>
                <a:latin typeface="Mona Sans Semi Bold" pitchFamily="34" charset="0"/>
                <a:ea typeface="Mona Sans Semi Bold" pitchFamily="34" charset="-122"/>
                <a:cs typeface="Mona Sans Semi Bold" pitchFamily="34" charset="-120"/>
              </a:rPr>
              <a:t>Recall (Class 1)</a:t>
            </a:r>
            <a:endParaRPr lang="en-US" sz="950" dirty="0"/>
          </a:p>
        </p:txBody>
      </p:sp>
      <p:sp>
        <p:nvSpPr>
          <p:cNvPr id="14" name="Text 9"/>
          <p:cNvSpPr/>
          <p:nvPr/>
        </p:nvSpPr>
        <p:spPr>
          <a:xfrm>
            <a:off x="396835" y="7302341"/>
            <a:ext cx="4685586" cy="158591"/>
          </a:xfrm>
          <a:prstGeom prst="rect">
            <a:avLst/>
          </a:prstGeom>
          <a:noFill/>
          <a:ln/>
        </p:spPr>
        <p:txBody>
          <a:bodyPr wrap="none" lIns="0" tIns="0" rIns="0" bIns="0" rtlCol="0" anchor="t"/>
          <a:lstStyle/>
          <a:p>
            <a:pPr algn="l" indent="0" marL="0">
              <a:lnSpc>
                <a:spcPts val="1250"/>
              </a:lnSpc>
              <a:buNone/>
            </a:pPr>
            <a:r>
              <a:rPr lang="en-US" sz="750" b="1" dirty="0">
                <a:solidFill>
                  <a:srgbClr val="8F8F8F"/>
                </a:solidFill>
                <a:latin typeface="Funnel Sans" pitchFamily="34" charset="0"/>
                <a:ea typeface="Funnel Sans" pitchFamily="34" charset="-122"/>
                <a:cs typeface="Funnel Sans" pitchFamily="34" charset="-120"/>
              </a:rPr>
              <a:t>Cross-Validation: 83.0% ± 4.9%</a:t>
            </a:r>
            <a:endParaRPr lang="en-US" sz="750" dirty="0"/>
          </a:p>
        </p:txBody>
      </p:sp>
      <p:sp>
        <p:nvSpPr>
          <p:cNvPr id="15" name="Text 10"/>
          <p:cNvSpPr/>
          <p:nvPr/>
        </p:nvSpPr>
        <p:spPr>
          <a:xfrm>
            <a:off x="396835" y="7550229"/>
            <a:ext cx="4685586" cy="317183"/>
          </a:xfrm>
          <a:prstGeom prst="rect">
            <a:avLst/>
          </a:prstGeom>
          <a:noFill/>
          <a:ln/>
        </p:spPr>
        <p:txBody>
          <a:bodyPr wrap="square" lIns="0" tIns="0" rIns="0" bIns="0" rtlCol="0" anchor="t"/>
          <a:lstStyle/>
          <a:p>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Slightly less accurate than logistic regression in cross-validation but demonstrates excellent recall for disease detection.</a:t>
            </a:r>
            <a:endParaRPr lang="en-US" sz="750" dirty="0"/>
          </a:p>
        </p:txBody>
      </p:sp>
      <p:pic>
        <p:nvPicPr>
          <p:cNvPr id="16" name="Image 3" descr="preencoded.png">    </p:cNvPr>
          <p:cNvPicPr>
            <a:picLocks noChangeAspect="1"/>
          </p:cNvPicPr>
          <p:nvPr/>
        </p:nvPicPr>
        <p:blipFill>
          <a:blip r:embed="rId4"/>
          <a:stretch>
            <a:fillRect/>
          </a:stretch>
        </p:blipFill>
        <p:spPr>
          <a:xfrm>
            <a:off x="5331976" y="1163122"/>
            <a:ext cx="3572470" cy="3050500"/>
          </a:xfrm>
          <a:prstGeom prst="rect">
            <a:avLst/>
          </a:prstGeom>
        </p:spPr>
      </p:pic>
      <p:sp>
        <p:nvSpPr>
          <p:cNvPr id="17" name="Text 11"/>
          <p:cNvSpPr/>
          <p:nvPr/>
        </p:nvSpPr>
        <p:spPr>
          <a:xfrm>
            <a:off x="5331976" y="4325183"/>
            <a:ext cx="8909090" cy="127040"/>
          </a:xfrm>
          <a:prstGeom prst="rect">
            <a:avLst/>
          </a:prstGeom>
          <a:noFill/>
          <a:ln/>
        </p:spPr>
        <p:txBody>
          <a:bodyPr wrap="none" lIns="0" tIns="0" rIns="0" bIns="0" rtlCol="0" anchor="t"/>
          <a:lstStyle/>
          <a:p>
            <a:pPr algn="l" indent="0" marL="0">
              <a:lnSpc>
                <a:spcPts val="1000"/>
              </a:lnSpc>
              <a:buNone/>
            </a:pPr>
            <a:r>
              <a:rPr lang="en-US" sz="600" dirty="0">
                <a:solidFill>
                  <a:srgbClr val="8F8F8F"/>
                </a:solidFill>
                <a:latin typeface="Funnel Sans" pitchFamily="34" charset="0"/>
                <a:ea typeface="Funnel Sans" pitchFamily="34" charset="-122"/>
                <a:cs typeface="Funnel Sans" pitchFamily="34" charset="-120"/>
              </a:rPr>
              <a:t>Decision tree confusion matrix showing strong performance</a:t>
            </a:r>
            <a:endParaRPr lang="en-US" sz="600" dirty="0"/>
          </a:p>
        </p:txBody>
      </p:sp>
      <p:sp>
        <p:nvSpPr>
          <p:cNvPr id="18" name="Text 12"/>
          <p:cNvSpPr/>
          <p:nvPr/>
        </p:nvSpPr>
        <p:spPr>
          <a:xfrm>
            <a:off x="396835" y="8105537"/>
            <a:ext cx="1728430" cy="155019"/>
          </a:xfrm>
          <a:prstGeom prst="rect">
            <a:avLst/>
          </a:prstGeom>
          <a:noFill/>
          <a:ln/>
        </p:spPr>
        <p:txBody>
          <a:bodyPr wrap="none" lIns="0" tIns="0" rIns="0" bIns="0" rtlCol="0" anchor="t"/>
          <a:lstStyle/>
          <a:p>
            <a:pPr algn="l" indent="0" marL="0">
              <a:lnSpc>
                <a:spcPts val="1200"/>
              </a:lnSpc>
              <a:buNone/>
            </a:pPr>
            <a:r>
              <a:rPr lang="en-US" sz="950" dirty="0">
                <a:solidFill>
                  <a:srgbClr val="DDDDDD"/>
                </a:solidFill>
                <a:latin typeface="Mona Sans Semi Bold" pitchFamily="34" charset="0"/>
                <a:ea typeface="Mona Sans Semi Bold" pitchFamily="34" charset="-122"/>
                <a:cs typeface="Mona Sans Semi Bold" pitchFamily="34" charset="-120"/>
              </a:rPr>
              <a:t>Feature Importance Analysis</a:t>
            </a:r>
            <a:endParaRPr lang="en-US" sz="950" dirty="0"/>
          </a:p>
        </p:txBody>
      </p:sp>
      <p:pic>
        <p:nvPicPr>
          <p:cNvPr id="19" name="Image 4" descr="preencoded.png">    </p:cNvPr>
          <p:cNvPicPr>
            <a:picLocks noChangeAspect="1"/>
          </p:cNvPicPr>
          <p:nvPr/>
        </p:nvPicPr>
        <p:blipFill>
          <a:blip r:embed="rId5"/>
          <a:stretch>
            <a:fillRect/>
          </a:stretch>
        </p:blipFill>
        <p:spPr>
          <a:xfrm>
            <a:off x="396835" y="8520946"/>
            <a:ext cx="3572470" cy="3059906"/>
          </a:xfrm>
          <a:prstGeom prst="rect">
            <a:avLst/>
          </a:prstGeom>
        </p:spPr>
      </p:pic>
      <p:sp>
        <p:nvSpPr>
          <p:cNvPr id="20" name="Text 13"/>
          <p:cNvSpPr/>
          <p:nvPr/>
        </p:nvSpPr>
        <p:spPr>
          <a:xfrm>
            <a:off x="7443788" y="8498681"/>
            <a:ext cx="6797397" cy="158591"/>
          </a:xfrm>
          <a:prstGeom prst="rect">
            <a:avLst/>
          </a:prstGeom>
          <a:noFill/>
          <a:ln/>
        </p:spPr>
        <p:txBody>
          <a:bodyPr wrap="none" lIns="0" tIns="0" rIns="0" bIns="0" rtlCol="0" anchor="t"/>
          <a:lstStyle/>
          <a:p>
            <a:pPr algn="l" indent="0" marL="0">
              <a:lnSpc>
                <a:spcPts val="1250"/>
              </a:lnSpc>
              <a:buNone/>
            </a:pPr>
            <a:r>
              <a:rPr lang="en-US" sz="750" b="1" dirty="0">
                <a:solidFill>
                  <a:srgbClr val="8F8F8F"/>
                </a:solidFill>
                <a:latin typeface="Funnel Sans" pitchFamily="34" charset="0"/>
                <a:ea typeface="Funnel Sans" pitchFamily="34" charset="-122"/>
                <a:cs typeface="Funnel Sans" pitchFamily="34" charset="-120"/>
              </a:rPr>
              <a:t>Top Contributing Features:</a:t>
            </a:r>
            <a:endParaRPr lang="en-US" sz="750" dirty="0"/>
          </a:p>
        </p:txBody>
      </p:sp>
      <p:sp>
        <p:nvSpPr>
          <p:cNvPr id="21" name="Text 14"/>
          <p:cNvSpPr/>
          <p:nvPr/>
        </p:nvSpPr>
        <p:spPr>
          <a:xfrm>
            <a:off x="7443788" y="8746569"/>
            <a:ext cx="6797397" cy="158591"/>
          </a:xfrm>
          <a:prstGeom prst="rect">
            <a:avLst/>
          </a:prstGeom>
          <a:noFill/>
          <a:ln/>
        </p:spPr>
        <p:txBody>
          <a:bodyPr wrap="none" lIns="0" tIns="0" rIns="0" bIns="0" rtlCol="0" anchor="t"/>
          <a:lstStyle/>
          <a:p>
            <a:pPr algn="l" marL="342900" indent="-342900">
              <a:lnSpc>
                <a:spcPts val="1250"/>
              </a:lnSpc>
              <a:buSzPct val="100000"/>
              <a:buFont typeface="+mj-lt"/>
              <a:buAutoNum type="arabicPeriod" startAt="1"/>
            </a:pPr>
            <a:r>
              <a:rPr lang="en-US" sz="750" b="1" dirty="0">
                <a:solidFill>
                  <a:srgbClr val="8F8F8F"/>
                </a:solidFill>
                <a:latin typeface="Funnel Sans" pitchFamily="34" charset="0"/>
                <a:ea typeface="Funnel Sans" pitchFamily="34" charset="-122"/>
                <a:cs typeface="Funnel Sans" pitchFamily="34" charset="-120"/>
              </a:rPr>
              <a:t>cp (chest pain):</a:t>
            </a:r>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 48.5% importance</a:t>
            </a:r>
            <a:endParaRPr lang="en-US" sz="750" dirty="0"/>
          </a:p>
        </p:txBody>
      </p:sp>
      <p:sp>
        <p:nvSpPr>
          <p:cNvPr id="22" name="Text 15"/>
          <p:cNvSpPr/>
          <p:nvPr/>
        </p:nvSpPr>
        <p:spPr>
          <a:xfrm>
            <a:off x="7443788" y="8939808"/>
            <a:ext cx="6797397" cy="158591"/>
          </a:xfrm>
          <a:prstGeom prst="rect">
            <a:avLst/>
          </a:prstGeom>
          <a:noFill/>
          <a:ln/>
        </p:spPr>
        <p:txBody>
          <a:bodyPr wrap="none" lIns="0" tIns="0" rIns="0" bIns="0" rtlCol="0" anchor="t"/>
          <a:lstStyle/>
          <a:p>
            <a:pPr algn="l" marL="342900" indent="-342900">
              <a:lnSpc>
                <a:spcPts val="1250"/>
              </a:lnSpc>
              <a:buSzPct val="100000"/>
              <a:buFont typeface="+mj-lt"/>
              <a:buAutoNum type="arabicPeriod" startAt="2"/>
            </a:pPr>
            <a:r>
              <a:rPr lang="en-US" sz="750" b="1" dirty="0">
                <a:solidFill>
                  <a:srgbClr val="8F8F8F"/>
                </a:solidFill>
                <a:latin typeface="Funnel Sans" pitchFamily="34" charset="0"/>
                <a:ea typeface="Funnel Sans" pitchFamily="34" charset="-122"/>
                <a:cs typeface="Funnel Sans" pitchFamily="34" charset="-120"/>
              </a:rPr>
              <a:t>ca (vessels):</a:t>
            </a:r>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 21.4% importance</a:t>
            </a:r>
            <a:endParaRPr lang="en-US" sz="750" dirty="0"/>
          </a:p>
        </p:txBody>
      </p:sp>
      <p:sp>
        <p:nvSpPr>
          <p:cNvPr id="23" name="Text 16"/>
          <p:cNvSpPr/>
          <p:nvPr/>
        </p:nvSpPr>
        <p:spPr>
          <a:xfrm>
            <a:off x="7443788" y="9133046"/>
            <a:ext cx="6797397" cy="158591"/>
          </a:xfrm>
          <a:prstGeom prst="rect">
            <a:avLst/>
          </a:prstGeom>
          <a:noFill/>
          <a:ln/>
        </p:spPr>
        <p:txBody>
          <a:bodyPr wrap="none" lIns="0" tIns="0" rIns="0" bIns="0" rtlCol="0" anchor="t"/>
          <a:lstStyle/>
          <a:p>
            <a:pPr algn="l" marL="342900" indent="-342900">
              <a:lnSpc>
                <a:spcPts val="1250"/>
              </a:lnSpc>
              <a:buSzPct val="100000"/>
              <a:buFont typeface="+mj-lt"/>
              <a:buAutoNum type="arabicPeriod" startAt="3"/>
            </a:pPr>
            <a:r>
              <a:rPr lang="en-US" sz="750" b="1" dirty="0">
                <a:solidFill>
                  <a:srgbClr val="8F8F8F"/>
                </a:solidFill>
                <a:latin typeface="Funnel Sans" pitchFamily="34" charset="0"/>
                <a:ea typeface="Funnel Sans" pitchFamily="34" charset="-122"/>
                <a:cs typeface="Funnel Sans" pitchFamily="34" charset="-120"/>
              </a:rPr>
              <a:t>thal:</a:t>
            </a:r>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 13.1% importance</a:t>
            </a:r>
            <a:endParaRPr lang="en-US" sz="750" dirty="0"/>
          </a:p>
        </p:txBody>
      </p:sp>
      <p:sp>
        <p:nvSpPr>
          <p:cNvPr id="24" name="Text 17"/>
          <p:cNvSpPr/>
          <p:nvPr/>
        </p:nvSpPr>
        <p:spPr>
          <a:xfrm>
            <a:off x="7443788" y="9326285"/>
            <a:ext cx="6797397" cy="158591"/>
          </a:xfrm>
          <a:prstGeom prst="rect">
            <a:avLst/>
          </a:prstGeom>
          <a:noFill/>
          <a:ln/>
        </p:spPr>
        <p:txBody>
          <a:bodyPr wrap="none" lIns="0" tIns="0" rIns="0" bIns="0" rtlCol="0" anchor="t"/>
          <a:lstStyle/>
          <a:p>
            <a:pPr algn="l" marL="342900" indent="-342900">
              <a:lnSpc>
                <a:spcPts val="1250"/>
              </a:lnSpc>
              <a:buSzPct val="100000"/>
              <a:buFont typeface="+mj-lt"/>
              <a:buAutoNum type="arabicPeriod" startAt="4"/>
            </a:pPr>
            <a:r>
              <a:rPr lang="en-US" sz="750" b="1" dirty="0">
                <a:solidFill>
                  <a:srgbClr val="8F8F8F"/>
                </a:solidFill>
                <a:latin typeface="Funnel Sans" pitchFamily="34" charset="0"/>
                <a:ea typeface="Funnel Sans" pitchFamily="34" charset="-122"/>
                <a:cs typeface="Funnel Sans" pitchFamily="34" charset="-120"/>
              </a:rPr>
              <a:t>oldpeak:</a:t>
            </a:r>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 10.4% importance</a:t>
            </a:r>
            <a:endParaRPr lang="en-US" sz="750" dirty="0"/>
          </a:p>
        </p:txBody>
      </p:sp>
      <p:sp>
        <p:nvSpPr>
          <p:cNvPr id="25" name="Text 18"/>
          <p:cNvSpPr/>
          <p:nvPr/>
        </p:nvSpPr>
        <p:spPr>
          <a:xfrm>
            <a:off x="7443788" y="9519523"/>
            <a:ext cx="6797397" cy="158591"/>
          </a:xfrm>
          <a:prstGeom prst="rect">
            <a:avLst/>
          </a:prstGeom>
          <a:noFill/>
          <a:ln/>
        </p:spPr>
        <p:txBody>
          <a:bodyPr wrap="none" lIns="0" tIns="0" rIns="0" bIns="0" rtlCol="0" anchor="t"/>
          <a:lstStyle/>
          <a:p>
            <a:pPr algn="l" marL="342900" indent="-342900">
              <a:lnSpc>
                <a:spcPts val="1250"/>
              </a:lnSpc>
              <a:buSzPct val="100000"/>
              <a:buFont typeface="+mj-lt"/>
              <a:buAutoNum type="arabicPeriod" startAt="5"/>
            </a:pPr>
            <a:r>
              <a:rPr lang="en-US" sz="750" b="1" dirty="0">
                <a:solidFill>
                  <a:srgbClr val="8F8F8F"/>
                </a:solidFill>
                <a:latin typeface="Funnel Sans" pitchFamily="34" charset="0"/>
                <a:ea typeface="Funnel Sans" pitchFamily="34" charset="-122"/>
                <a:cs typeface="Funnel Sans" pitchFamily="34" charset="-120"/>
              </a:rPr>
              <a:t>slope:</a:t>
            </a:r>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 5.0% importance</a:t>
            </a:r>
            <a:endParaRPr lang="en-US" sz="750" dirty="0"/>
          </a:p>
        </p:txBody>
      </p:sp>
      <p:sp>
        <p:nvSpPr>
          <p:cNvPr id="26" name="Text 19"/>
          <p:cNvSpPr/>
          <p:nvPr/>
        </p:nvSpPr>
        <p:spPr>
          <a:xfrm>
            <a:off x="7443788" y="9767411"/>
            <a:ext cx="6797397" cy="158591"/>
          </a:xfrm>
          <a:prstGeom prst="rect">
            <a:avLst/>
          </a:prstGeom>
          <a:noFill/>
          <a:ln/>
        </p:spPr>
        <p:txBody>
          <a:bodyPr wrap="none" lIns="0" tIns="0" rIns="0" bIns="0" rtlCol="0" anchor="t"/>
          <a:lstStyle/>
          <a:p>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Chest pain type emerges as the dominant predictor, contributing nearly half of the model's decision-making power.</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96835" y="272891"/>
            <a:ext cx="5908119" cy="310158"/>
          </a:xfrm>
          <a:prstGeom prst="rect">
            <a:avLst/>
          </a:prstGeom>
          <a:noFill/>
          <a:ln/>
        </p:spPr>
        <p:txBody>
          <a:bodyPr wrap="none" lIns="0" tIns="0" rIns="0" bIns="0" rtlCol="0" anchor="t"/>
          <a:lstStyle/>
          <a:p>
            <a:pPr algn="l" indent="0" marL="0">
              <a:lnSpc>
                <a:spcPts val="2400"/>
              </a:lnSpc>
              <a:buNone/>
            </a:pPr>
            <a:r>
              <a:rPr lang="en-US" sz="1950" dirty="0">
                <a:solidFill>
                  <a:srgbClr val="DDDDDD"/>
                </a:solidFill>
                <a:latin typeface="Mona Sans Semi Bold" pitchFamily="34" charset="0"/>
                <a:ea typeface="Mona Sans Semi Bold" pitchFamily="34" charset="-122"/>
                <a:cs typeface="Mona Sans Semi Bold" pitchFamily="34" charset="-120"/>
              </a:rPr>
              <a:t>Final Model Selection and Clinical Considerations</a:t>
            </a:r>
            <a:endParaRPr lang="en-US" sz="1950" dirty="0"/>
          </a:p>
        </p:txBody>
      </p:sp>
      <p:sp>
        <p:nvSpPr>
          <p:cNvPr id="3" name="Shape 1"/>
          <p:cNvSpPr/>
          <p:nvPr/>
        </p:nvSpPr>
        <p:spPr>
          <a:xfrm>
            <a:off x="396835" y="781407"/>
            <a:ext cx="6868716" cy="1142167"/>
          </a:xfrm>
          <a:prstGeom prst="roundRect">
            <a:avLst>
              <a:gd name="adj" fmla="val 3649"/>
            </a:avLst>
          </a:prstGeom>
          <a:solidFill>
            <a:srgbClr val="404040"/>
          </a:solidFill>
          <a:ln w="7620">
            <a:solidFill>
              <a:srgbClr val="595959"/>
            </a:solidFill>
            <a:prstDash val="solid"/>
          </a:ln>
        </p:spPr>
      </p:sp>
      <p:sp>
        <p:nvSpPr>
          <p:cNvPr id="4" name="Shape 2"/>
          <p:cNvSpPr/>
          <p:nvPr/>
        </p:nvSpPr>
        <p:spPr>
          <a:xfrm>
            <a:off x="503634" y="888206"/>
            <a:ext cx="297656" cy="297656"/>
          </a:xfrm>
          <a:prstGeom prst="roundRect">
            <a:avLst>
              <a:gd name="adj" fmla="val 30716954"/>
            </a:avLst>
          </a:prstGeom>
          <a:solidFill>
            <a:srgbClr val="FFFFFF"/>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5430" y="970002"/>
            <a:ext cx="133945" cy="133945"/>
          </a:xfrm>
          <a:prstGeom prst="rect">
            <a:avLst/>
          </a:prstGeom>
        </p:spPr>
      </p:pic>
      <p:sp>
        <p:nvSpPr>
          <p:cNvPr id="6" name="Text 3"/>
          <p:cNvSpPr/>
          <p:nvPr/>
        </p:nvSpPr>
        <p:spPr>
          <a:xfrm>
            <a:off x="503634" y="1285042"/>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FFFFFF"/>
                </a:solidFill>
                <a:latin typeface="Mona Sans Semi Bold" pitchFamily="34" charset="0"/>
                <a:ea typeface="Mona Sans Semi Bold" pitchFamily="34" charset="-122"/>
                <a:cs typeface="Mona Sans Semi Bold" pitchFamily="34" charset="-120"/>
              </a:rPr>
              <a:t>False Negative Risk</a:t>
            </a:r>
            <a:endParaRPr lang="en-US" sz="950" dirty="0"/>
          </a:p>
        </p:txBody>
      </p:sp>
      <p:sp>
        <p:nvSpPr>
          <p:cNvPr id="7" name="Text 4"/>
          <p:cNvSpPr/>
          <p:nvPr/>
        </p:nvSpPr>
        <p:spPr>
          <a:xfrm>
            <a:off x="503634" y="1499592"/>
            <a:ext cx="6655118" cy="317183"/>
          </a:xfrm>
          <a:prstGeom prst="rect">
            <a:avLst/>
          </a:prstGeom>
          <a:noFill/>
          <a:ln/>
        </p:spPr>
        <p:txBody>
          <a:bodyPr wrap="square" lIns="0" tIns="0" rIns="0" bIns="0" rtlCol="0" anchor="t"/>
          <a:lstStyle/>
          <a:p>
            <a:pPr algn="l" indent="0" marL="0">
              <a:lnSpc>
                <a:spcPts val="1250"/>
              </a:lnSpc>
              <a:buNone/>
            </a:pPr>
            <a:r>
              <a:rPr lang="en-US" sz="750" dirty="0">
                <a:solidFill>
                  <a:srgbClr val="FFFFFF"/>
                </a:solidFill>
                <a:latin typeface="Funnel Sans" pitchFamily="34" charset="0"/>
                <a:ea typeface="Funnel Sans" pitchFamily="34" charset="-122"/>
                <a:cs typeface="Funnel Sans" pitchFamily="34" charset="-120"/>
              </a:rPr>
              <a:t>Model misses a positive patient, declaring them "healthy" when actually ill. </a:t>
            </a:r>
            <a:pPr algn="l" indent="0" marL="0">
              <a:lnSpc>
                <a:spcPts val="1250"/>
              </a:lnSpc>
              <a:buNone/>
            </a:pPr>
            <a:r>
              <a:rPr lang="en-US" sz="750" b="1" dirty="0">
                <a:solidFill>
                  <a:srgbClr val="FFFFFF"/>
                </a:solidFill>
                <a:latin typeface="Funnel Sans" pitchFamily="34" charset="0"/>
                <a:ea typeface="Funnel Sans" pitchFamily="34" charset="-122"/>
                <a:cs typeface="Funnel Sans" pitchFamily="34" charset="-120"/>
              </a:rPr>
              <a:t>Consequence:</a:t>
            </a:r>
            <a:pPr algn="l" indent="0" marL="0">
              <a:lnSpc>
                <a:spcPts val="1250"/>
              </a:lnSpc>
              <a:buNone/>
            </a:pPr>
            <a:r>
              <a:rPr lang="en-US" sz="750" dirty="0">
                <a:solidFill>
                  <a:srgbClr val="FFFFFF"/>
                </a:solidFill>
                <a:latin typeface="Funnel Sans" pitchFamily="34" charset="0"/>
                <a:ea typeface="Funnel Sans" pitchFamily="34" charset="-122"/>
                <a:cs typeface="Funnel Sans" pitchFamily="34" charset="-120"/>
              </a:rPr>
              <a:t> Patient doesn't receive timely care or treatment, potentially leading to serious health complications or death.</a:t>
            </a:r>
            <a:endParaRPr lang="en-US" sz="750" dirty="0"/>
          </a:p>
        </p:txBody>
      </p:sp>
      <p:sp>
        <p:nvSpPr>
          <p:cNvPr id="8" name="Shape 5"/>
          <p:cNvSpPr/>
          <p:nvPr/>
        </p:nvSpPr>
        <p:spPr>
          <a:xfrm>
            <a:off x="7364730" y="781407"/>
            <a:ext cx="6868835" cy="1142167"/>
          </a:xfrm>
          <a:prstGeom prst="roundRect">
            <a:avLst>
              <a:gd name="adj" fmla="val 3649"/>
            </a:avLst>
          </a:prstGeom>
          <a:solidFill>
            <a:srgbClr val="404040"/>
          </a:solidFill>
          <a:ln w="7620">
            <a:solidFill>
              <a:srgbClr val="595959"/>
            </a:solidFill>
            <a:prstDash val="solid"/>
          </a:ln>
        </p:spPr>
      </p:sp>
      <p:sp>
        <p:nvSpPr>
          <p:cNvPr id="9" name="Shape 6"/>
          <p:cNvSpPr/>
          <p:nvPr/>
        </p:nvSpPr>
        <p:spPr>
          <a:xfrm>
            <a:off x="7471529" y="888206"/>
            <a:ext cx="297656" cy="297656"/>
          </a:xfrm>
          <a:prstGeom prst="roundRect">
            <a:avLst>
              <a:gd name="adj" fmla="val 30716954"/>
            </a:avLst>
          </a:prstGeom>
          <a:solidFill>
            <a:srgbClr val="FFFFFF"/>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53325" y="970002"/>
            <a:ext cx="133945" cy="133945"/>
          </a:xfrm>
          <a:prstGeom prst="rect">
            <a:avLst/>
          </a:prstGeom>
        </p:spPr>
      </p:pic>
      <p:sp>
        <p:nvSpPr>
          <p:cNvPr id="11" name="Text 7"/>
          <p:cNvSpPr/>
          <p:nvPr/>
        </p:nvSpPr>
        <p:spPr>
          <a:xfrm>
            <a:off x="7471529" y="1285042"/>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FFFFFF"/>
                </a:solidFill>
                <a:latin typeface="Mona Sans Semi Bold" pitchFamily="34" charset="0"/>
                <a:ea typeface="Mona Sans Semi Bold" pitchFamily="34" charset="-122"/>
                <a:cs typeface="Mona Sans Semi Bold" pitchFamily="34" charset="-120"/>
              </a:rPr>
              <a:t>False Positive Risk</a:t>
            </a:r>
            <a:endParaRPr lang="en-US" sz="950" dirty="0"/>
          </a:p>
        </p:txBody>
      </p:sp>
      <p:sp>
        <p:nvSpPr>
          <p:cNvPr id="12" name="Text 8"/>
          <p:cNvSpPr/>
          <p:nvPr/>
        </p:nvSpPr>
        <p:spPr>
          <a:xfrm>
            <a:off x="7471529" y="1499592"/>
            <a:ext cx="6655237" cy="317183"/>
          </a:xfrm>
          <a:prstGeom prst="rect">
            <a:avLst/>
          </a:prstGeom>
          <a:noFill/>
          <a:ln/>
        </p:spPr>
        <p:txBody>
          <a:bodyPr wrap="square" lIns="0" tIns="0" rIns="0" bIns="0" rtlCol="0" anchor="t"/>
          <a:lstStyle/>
          <a:p>
            <a:pPr algn="l" indent="0" marL="0">
              <a:lnSpc>
                <a:spcPts val="1250"/>
              </a:lnSpc>
              <a:buNone/>
            </a:pPr>
            <a:r>
              <a:rPr lang="en-US" sz="750" dirty="0">
                <a:solidFill>
                  <a:srgbClr val="FFFFFF"/>
                </a:solidFill>
                <a:latin typeface="Funnel Sans" pitchFamily="34" charset="0"/>
                <a:ea typeface="Funnel Sans" pitchFamily="34" charset="-122"/>
                <a:cs typeface="Funnel Sans" pitchFamily="34" charset="-120"/>
              </a:rPr>
              <a:t>Model overdiagnoses, declaring patient "ill" when actually healthy. </a:t>
            </a:r>
            <a:pPr algn="l" indent="0" marL="0">
              <a:lnSpc>
                <a:spcPts val="1250"/>
              </a:lnSpc>
              <a:buNone/>
            </a:pPr>
            <a:r>
              <a:rPr lang="en-US" sz="750" b="1" dirty="0">
                <a:solidFill>
                  <a:srgbClr val="FFFFFF"/>
                </a:solidFill>
                <a:latin typeface="Funnel Sans" pitchFamily="34" charset="0"/>
                <a:ea typeface="Funnel Sans" pitchFamily="34" charset="-122"/>
                <a:cs typeface="Funnel Sans" pitchFamily="34" charset="-120"/>
              </a:rPr>
              <a:t>Consequence:</a:t>
            </a:r>
            <a:pPr algn="l" indent="0" marL="0">
              <a:lnSpc>
                <a:spcPts val="1250"/>
              </a:lnSpc>
              <a:buNone/>
            </a:pPr>
            <a:r>
              <a:rPr lang="en-US" sz="750" dirty="0">
                <a:solidFill>
                  <a:srgbClr val="FFFFFF"/>
                </a:solidFill>
                <a:latin typeface="Funnel Sans" pitchFamily="34" charset="0"/>
                <a:ea typeface="Funnel Sans" pitchFamily="34" charset="-122"/>
                <a:cs typeface="Funnel Sans" pitchFamily="34" charset="-120"/>
              </a:rPr>
              <a:t> Patient experiences anxiety, undergoes unnecessary tests or treatments, but is not in direct danger.</a:t>
            </a:r>
            <a:endParaRPr lang="en-US" sz="750" dirty="0"/>
          </a:p>
        </p:txBody>
      </p:sp>
      <p:sp>
        <p:nvSpPr>
          <p:cNvPr id="13" name="Shape 9"/>
          <p:cNvSpPr/>
          <p:nvPr/>
        </p:nvSpPr>
        <p:spPr>
          <a:xfrm>
            <a:off x="396835" y="2084709"/>
            <a:ext cx="13836729" cy="20003"/>
          </a:xfrm>
          <a:prstGeom prst="rect">
            <a:avLst/>
          </a:prstGeom>
          <a:solidFill>
            <a:srgbClr val="8F8F8F">
              <a:alpha val="50000"/>
            </a:srgbClr>
          </a:solidFill>
          <a:ln/>
        </p:spPr>
      </p:sp>
      <p:sp>
        <p:nvSpPr>
          <p:cNvPr id="14" name="Text 10"/>
          <p:cNvSpPr/>
          <p:nvPr/>
        </p:nvSpPr>
        <p:spPr>
          <a:xfrm>
            <a:off x="396835" y="2253496"/>
            <a:ext cx="3035022" cy="185976"/>
          </a:xfrm>
          <a:prstGeom prst="rect">
            <a:avLst/>
          </a:prstGeom>
          <a:noFill/>
          <a:ln/>
        </p:spPr>
        <p:txBody>
          <a:bodyPr wrap="none" lIns="0" tIns="0" rIns="0" bIns="0" rtlCol="0" anchor="t"/>
          <a:lstStyle/>
          <a:p>
            <a:pPr algn="l" indent="0" marL="0">
              <a:lnSpc>
                <a:spcPts val="1450"/>
              </a:lnSpc>
              <a:buNone/>
            </a:pPr>
            <a:r>
              <a:rPr lang="en-US" sz="1150" dirty="0">
                <a:solidFill>
                  <a:srgbClr val="DDDDDD"/>
                </a:solidFill>
                <a:latin typeface="Mona Sans Semi Bold" pitchFamily="34" charset="0"/>
                <a:ea typeface="Mona Sans Semi Bold" pitchFamily="34" charset="-122"/>
                <a:cs typeface="Mona Sans Semi Bold" pitchFamily="34" charset="-120"/>
              </a:rPr>
              <a:t>Recommended Model: Logistic Regression</a:t>
            </a:r>
            <a:endParaRPr lang="en-US" sz="1150" dirty="0"/>
          </a:p>
        </p:txBody>
      </p:sp>
      <p:sp>
        <p:nvSpPr>
          <p:cNvPr id="15" name="Text 11"/>
          <p:cNvSpPr/>
          <p:nvPr/>
        </p:nvSpPr>
        <p:spPr>
          <a:xfrm>
            <a:off x="396835" y="2677597"/>
            <a:ext cx="6797397" cy="317183"/>
          </a:xfrm>
          <a:prstGeom prst="rect">
            <a:avLst/>
          </a:prstGeom>
          <a:noFill/>
          <a:ln/>
        </p:spPr>
        <p:txBody>
          <a:bodyPr wrap="square" lIns="0" tIns="0" rIns="0" bIns="0" rtlCol="0" anchor="t"/>
          <a:lstStyle/>
          <a:p>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In medical diagnostics, </a:t>
            </a:r>
            <a:pPr algn="l" indent="0" marL="0">
              <a:lnSpc>
                <a:spcPts val="1250"/>
              </a:lnSpc>
              <a:buNone/>
            </a:pPr>
            <a:r>
              <a:rPr lang="en-US" sz="750" b="1" dirty="0">
                <a:solidFill>
                  <a:srgbClr val="8F8F8F"/>
                </a:solidFill>
                <a:latin typeface="Funnel Sans" pitchFamily="34" charset="0"/>
                <a:ea typeface="Funnel Sans" pitchFamily="34" charset="-122"/>
                <a:cs typeface="Funnel Sans" pitchFamily="34" charset="-120"/>
              </a:rPr>
              <a:t>minimizing false negatives is paramount</a:t>
            </a:r>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 While the decision tree showed slightly higher test accuracy (81% vs 79%), the logistic regression model demonstrates:</a:t>
            </a:r>
            <a:endParaRPr lang="en-US" sz="750" dirty="0"/>
          </a:p>
        </p:txBody>
      </p:sp>
      <p:sp>
        <p:nvSpPr>
          <p:cNvPr id="16" name="Text 12"/>
          <p:cNvSpPr/>
          <p:nvPr/>
        </p:nvSpPr>
        <p:spPr>
          <a:xfrm>
            <a:off x="396835" y="3084076"/>
            <a:ext cx="6797397"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8F8F8F"/>
                </a:solidFill>
                <a:latin typeface="Funnel Sans" pitchFamily="34" charset="0"/>
                <a:ea typeface="Funnel Sans" pitchFamily="34" charset="-122"/>
                <a:cs typeface="Funnel Sans" pitchFamily="34" charset="-120"/>
              </a:rPr>
              <a:t>Superior cross-validation performance:</a:t>
            </a:r>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 84.5% vs 83.0%</a:t>
            </a:r>
            <a:endParaRPr lang="en-US" sz="750" dirty="0"/>
          </a:p>
        </p:txBody>
      </p:sp>
      <p:sp>
        <p:nvSpPr>
          <p:cNvPr id="17" name="Text 13"/>
          <p:cNvSpPr/>
          <p:nvPr/>
        </p:nvSpPr>
        <p:spPr>
          <a:xfrm>
            <a:off x="396835" y="3277314"/>
            <a:ext cx="6797397"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8F8F8F"/>
                </a:solidFill>
                <a:latin typeface="Funnel Sans" pitchFamily="34" charset="0"/>
                <a:ea typeface="Funnel Sans" pitchFamily="34" charset="-122"/>
                <a:cs typeface="Funnel Sans" pitchFamily="34" charset="-120"/>
              </a:rPr>
              <a:t>Better generalization:</a:t>
            </a:r>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 Lower risk of overfitting</a:t>
            </a:r>
            <a:endParaRPr lang="en-US" sz="750" dirty="0"/>
          </a:p>
        </p:txBody>
      </p:sp>
      <p:sp>
        <p:nvSpPr>
          <p:cNvPr id="18" name="Text 14"/>
          <p:cNvSpPr/>
          <p:nvPr/>
        </p:nvSpPr>
        <p:spPr>
          <a:xfrm>
            <a:off x="396835" y="3470553"/>
            <a:ext cx="6797397"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8F8F8F"/>
                </a:solidFill>
                <a:latin typeface="Funnel Sans" pitchFamily="34" charset="0"/>
                <a:ea typeface="Funnel Sans" pitchFamily="34" charset="-122"/>
                <a:cs typeface="Funnel Sans" pitchFamily="34" charset="-120"/>
              </a:rPr>
              <a:t>Clinical safety:</a:t>
            </a:r>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 Fewer missed disease cases</a:t>
            </a:r>
            <a:endParaRPr lang="en-US" sz="750" dirty="0"/>
          </a:p>
        </p:txBody>
      </p:sp>
      <p:sp>
        <p:nvSpPr>
          <p:cNvPr id="19" name="Text 15"/>
          <p:cNvSpPr/>
          <p:nvPr/>
        </p:nvSpPr>
        <p:spPr>
          <a:xfrm>
            <a:off x="396835" y="3663791"/>
            <a:ext cx="6797397" cy="158591"/>
          </a:xfrm>
          <a:prstGeom prst="rect">
            <a:avLst/>
          </a:prstGeom>
          <a:noFill/>
          <a:ln/>
        </p:spPr>
        <p:txBody>
          <a:bodyPr wrap="none" lIns="0" tIns="0" rIns="0" bIns="0" rtlCol="0" anchor="t"/>
          <a:lstStyle/>
          <a:p>
            <a:pPr algn="l" marL="342900" indent="-342900">
              <a:lnSpc>
                <a:spcPts val="1250"/>
              </a:lnSpc>
              <a:buSzPct val="100000"/>
              <a:buChar char="•"/>
            </a:pPr>
            <a:r>
              <a:rPr lang="en-US" sz="750" b="1" dirty="0">
                <a:solidFill>
                  <a:srgbClr val="8F8F8F"/>
                </a:solidFill>
                <a:latin typeface="Funnel Sans" pitchFamily="34" charset="0"/>
                <a:ea typeface="Funnel Sans" pitchFamily="34" charset="-122"/>
                <a:cs typeface="Funnel Sans" pitchFamily="34" charset="-120"/>
              </a:rPr>
              <a:t>Interpretability:</a:t>
            </a:r>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 Clear feature coefficients for medical review</a:t>
            </a:r>
            <a:endParaRPr lang="en-US" sz="750" dirty="0"/>
          </a:p>
        </p:txBody>
      </p:sp>
      <p:sp>
        <p:nvSpPr>
          <p:cNvPr id="20" name="Text 16"/>
          <p:cNvSpPr/>
          <p:nvPr/>
        </p:nvSpPr>
        <p:spPr>
          <a:xfrm>
            <a:off x="396835" y="3911679"/>
            <a:ext cx="6797397" cy="317183"/>
          </a:xfrm>
          <a:prstGeom prst="rect">
            <a:avLst/>
          </a:prstGeom>
          <a:noFill/>
          <a:ln/>
        </p:spPr>
        <p:txBody>
          <a:bodyPr wrap="square" lIns="0" tIns="0" rIns="0" bIns="0" rtlCol="0" anchor="t"/>
          <a:lstStyle/>
          <a:p>
            <a:pPr algn="l" indent="0" marL="0">
              <a:lnSpc>
                <a:spcPts val="1250"/>
              </a:lnSpc>
              <a:buNone/>
            </a:pPr>
            <a:r>
              <a:rPr lang="en-US" sz="750" dirty="0">
                <a:solidFill>
                  <a:srgbClr val="8F8F8F"/>
                </a:solidFill>
                <a:latin typeface="Funnel Sans" pitchFamily="34" charset="0"/>
                <a:ea typeface="Funnel Sans" pitchFamily="34" charset="-122"/>
                <a:cs typeface="Funnel Sans" pitchFamily="34" charset="-120"/>
              </a:rPr>
              <a:t>The 4.5% accuracy improvement through hyperparameter tuning demonstrates the critical importance of model optimization in achieving reliable predictions.</a:t>
            </a:r>
            <a:endParaRPr lang="en-US" sz="750" dirty="0"/>
          </a:p>
        </p:txBody>
      </p:sp>
      <p:pic>
        <p:nvPicPr>
          <p:cNvPr id="21" name="Image 2" descr="preencoded.png">    </p:cNvPr>
          <p:cNvPicPr>
            <a:picLocks noChangeAspect="1"/>
          </p:cNvPicPr>
          <p:nvPr/>
        </p:nvPicPr>
        <p:blipFill>
          <a:blip r:embed="rId5"/>
          <a:stretch>
            <a:fillRect/>
          </a:stretch>
        </p:blipFill>
        <p:spPr>
          <a:xfrm>
            <a:off x="7443788" y="2699861"/>
            <a:ext cx="6351151" cy="6351151"/>
          </a:xfrm>
          <a:prstGeom prst="rect">
            <a:avLst/>
          </a:prstGeom>
        </p:spPr>
      </p:pic>
      <p:sp>
        <p:nvSpPr>
          <p:cNvPr id="22" name="Shape 17"/>
          <p:cNvSpPr/>
          <p:nvPr/>
        </p:nvSpPr>
        <p:spPr>
          <a:xfrm>
            <a:off x="7443788" y="9162574"/>
            <a:ext cx="6797397" cy="579953"/>
          </a:xfrm>
          <a:prstGeom prst="roundRect">
            <a:avLst>
              <a:gd name="adj" fmla="val 7187"/>
            </a:avLst>
          </a:prstGeom>
          <a:solidFill>
            <a:srgbClr val="262626"/>
          </a:solidFill>
          <a:ln/>
        </p:spPr>
      </p:sp>
      <p:pic>
        <p:nvPicPr>
          <p:cNvPr id="23" name="Image 3" descr="preencoded.png">    </p:cNvPr>
          <p:cNvPicPr>
            <a:picLocks noChangeAspect="1"/>
          </p:cNvPicPr>
          <p:nvPr/>
        </p:nvPicPr>
        <p:blipFill>
          <a:blip r:embed="rId6"/>
          <a:stretch>
            <a:fillRect/>
          </a:stretch>
        </p:blipFill>
        <p:spPr>
          <a:xfrm>
            <a:off x="7542967" y="9314021"/>
            <a:ext cx="123944" cy="99179"/>
          </a:xfrm>
          <a:prstGeom prst="rect">
            <a:avLst/>
          </a:prstGeom>
        </p:spPr>
      </p:pic>
      <p:sp>
        <p:nvSpPr>
          <p:cNvPr id="24" name="Text 18"/>
          <p:cNvSpPr/>
          <p:nvPr/>
        </p:nvSpPr>
        <p:spPr>
          <a:xfrm>
            <a:off x="7766090" y="9286518"/>
            <a:ext cx="6375916" cy="317183"/>
          </a:xfrm>
          <a:prstGeom prst="rect">
            <a:avLst/>
          </a:prstGeom>
          <a:noFill/>
          <a:ln/>
        </p:spPr>
        <p:txBody>
          <a:bodyPr wrap="square" lIns="0" tIns="0" rIns="0" bIns="0" rtlCol="0" anchor="t"/>
          <a:lstStyle/>
          <a:p>
            <a:pPr algn="l" indent="0" marL="0">
              <a:lnSpc>
                <a:spcPts val="1250"/>
              </a:lnSpc>
              <a:buNone/>
            </a:pPr>
            <a:r>
              <a:rPr lang="en-US" sz="750" b="1" dirty="0">
                <a:solidFill>
                  <a:srgbClr val="FFFFFF"/>
                </a:solidFill>
                <a:latin typeface="Funnel Sans" pitchFamily="34" charset="0"/>
                <a:ea typeface="Funnel Sans" pitchFamily="34" charset="-122"/>
                <a:cs typeface="Funnel Sans" pitchFamily="34" charset="-120"/>
              </a:rPr>
              <a:t>Key Insight:</a:t>
            </a:r>
            <a:pPr algn="l" indent="0" marL="0">
              <a:lnSpc>
                <a:spcPts val="1250"/>
              </a:lnSpc>
              <a:buNone/>
            </a:pPr>
            <a:r>
              <a:rPr lang="en-US" sz="750" dirty="0">
                <a:solidFill>
                  <a:srgbClr val="FFFFFF"/>
                </a:solidFill>
                <a:latin typeface="Funnel Sans" pitchFamily="34" charset="0"/>
                <a:ea typeface="Funnel Sans" pitchFamily="34" charset="-122"/>
                <a:cs typeface="Funnel Sans" pitchFamily="34" charset="-120"/>
              </a:rPr>
              <a:t> In healthcare applications, maximizing recall (sensitivity) takes precedence over overall accuracy. It's better to err on the side of caution, ensuring sick patients receive necessary care even if it means some false alarms.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2025-11-14T22:35:13Z</dcterms:created>
  <dcterms:modified xsi:type="dcterms:W3CDTF">2025-11-14T22:35:13Z</dcterms:modified>
</cp:coreProperties>
</file>